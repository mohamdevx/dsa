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9" r:id="rId1"/>
  </p:sldMasterIdLst>
  <p:notesMasterIdLst>
    <p:notesMasterId r:id="rId56"/>
  </p:notesMasterIdLst>
  <p:handoutMasterIdLst>
    <p:handoutMasterId r:id="rId57"/>
  </p:handoutMasterIdLst>
  <p:sldIdLst>
    <p:sldId id="692" r:id="rId2"/>
    <p:sldId id="788" r:id="rId3"/>
    <p:sldId id="786" r:id="rId4"/>
    <p:sldId id="787" r:id="rId5"/>
    <p:sldId id="785" r:id="rId6"/>
    <p:sldId id="789" r:id="rId7"/>
    <p:sldId id="790" r:id="rId8"/>
    <p:sldId id="791" r:id="rId9"/>
    <p:sldId id="792" r:id="rId10"/>
    <p:sldId id="804" r:id="rId11"/>
    <p:sldId id="420" r:id="rId12"/>
    <p:sldId id="722" r:id="rId13"/>
    <p:sldId id="462" r:id="rId14"/>
    <p:sldId id="438" r:id="rId15"/>
    <p:sldId id="458" r:id="rId16"/>
    <p:sldId id="422" r:id="rId17"/>
    <p:sldId id="726" r:id="rId18"/>
    <p:sldId id="718" r:id="rId19"/>
    <p:sldId id="795" r:id="rId20"/>
    <p:sldId id="794" r:id="rId21"/>
    <p:sldId id="796" r:id="rId22"/>
    <p:sldId id="724" r:id="rId23"/>
    <p:sldId id="737" r:id="rId24"/>
    <p:sldId id="725" r:id="rId25"/>
    <p:sldId id="741" r:id="rId26"/>
    <p:sldId id="743" r:id="rId27"/>
    <p:sldId id="793" r:id="rId28"/>
    <p:sldId id="728" r:id="rId29"/>
    <p:sldId id="744" r:id="rId30"/>
    <p:sldId id="745" r:id="rId31"/>
    <p:sldId id="729" r:id="rId32"/>
    <p:sldId id="730" r:id="rId33"/>
    <p:sldId id="698" r:id="rId34"/>
    <p:sldId id="797" r:id="rId35"/>
    <p:sldId id="746" r:id="rId36"/>
    <p:sldId id="747" r:id="rId37"/>
    <p:sldId id="695" r:id="rId38"/>
    <p:sldId id="731" r:id="rId39"/>
    <p:sldId id="732" r:id="rId40"/>
    <p:sldId id="733" r:id="rId41"/>
    <p:sldId id="734" r:id="rId42"/>
    <p:sldId id="703" r:id="rId43"/>
    <p:sldId id="798" r:id="rId44"/>
    <p:sldId id="735" r:id="rId45"/>
    <p:sldId id="736" r:id="rId46"/>
    <p:sldId id="799" r:id="rId47"/>
    <p:sldId id="800" r:id="rId48"/>
    <p:sldId id="801" r:id="rId49"/>
    <p:sldId id="436" r:id="rId50"/>
    <p:sldId id="500" r:id="rId51"/>
    <p:sldId id="501" r:id="rId52"/>
    <p:sldId id="502" r:id="rId53"/>
    <p:sldId id="503" r:id="rId54"/>
    <p:sldId id="802" r:id="rId55"/>
  </p:sldIdLst>
  <p:sldSz cx="9144000" cy="6858000" type="screen4x3"/>
  <p:notesSz cx="6831013" cy="91170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2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66"/>
    <a:srgbClr val="003300"/>
    <a:srgbClr val="28462B"/>
    <a:srgbClr val="5FA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4" autoAdjust="0"/>
    <p:restoredTop sz="94660" autoAdjust="0"/>
  </p:normalViewPr>
  <p:slideViewPr>
    <p:cSldViewPr>
      <p:cViewPr varScale="1">
        <p:scale>
          <a:sx n="113" d="100"/>
          <a:sy n="113" d="100"/>
        </p:scale>
        <p:origin x="191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872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TW"/>
          </a:p>
        </p:txBody>
      </p:sp>
      <p:sp>
        <p:nvSpPr>
          <p:cNvPr id="464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TW"/>
          </a:p>
        </p:txBody>
      </p:sp>
      <p:sp>
        <p:nvSpPr>
          <p:cNvPr id="464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AA4948D-D11C-4B7F-AAB5-F5C9CE6857E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defTabSz="911225">
              <a:defRPr sz="1200"/>
            </a:lvl1pPr>
          </a:lstStyle>
          <a:p>
            <a:endParaRPr lang="en-US" altLang="zh-TW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endParaRPr lang="en-US" altLang="zh-TW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6650" y="684213"/>
            <a:ext cx="4557713" cy="3417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330700"/>
            <a:ext cx="5008563" cy="410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defTabSz="911225">
              <a:defRPr sz="1200"/>
            </a:lvl1pPr>
          </a:lstStyle>
          <a:p>
            <a:endParaRPr lang="en-US" altLang="zh-TW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fld id="{5F1E9288-8DAC-4782-874C-CB9A6DA05A3C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9933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059EC3-0E93-4690-BFA6-988AC973F7CC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501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F94ADE-B6DE-463D-9367-93B2CB0E52D5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75996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2C130C-999B-4916-A830-4BBDFF9824DF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02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>
            <a:extLst>
              <a:ext uri="{FF2B5EF4-FFF2-40B4-BE49-F238E27FC236}">
                <a16:creationId xmlns:a16="http://schemas.microsoft.com/office/drawing/2014/main" id="{B8684D4E-9991-4198-936F-BE0F27B9C5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8819" name="Rectangle 3">
            <a:extLst>
              <a:ext uri="{FF2B5EF4-FFF2-40B4-BE49-F238E27FC236}">
                <a16:creationId xmlns:a16="http://schemas.microsoft.com/office/drawing/2014/main" id="{2C1D4DC5-62C6-4E17-8601-144FBCFD31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>
            <a:extLst>
              <a:ext uri="{FF2B5EF4-FFF2-40B4-BE49-F238E27FC236}">
                <a16:creationId xmlns:a16="http://schemas.microsoft.com/office/drawing/2014/main" id="{FF8554C2-D918-4F31-B8DC-BC78FE311B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8451" name="Rectangle 3">
            <a:extLst>
              <a:ext uri="{FF2B5EF4-FFF2-40B4-BE49-F238E27FC236}">
                <a16:creationId xmlns:a16="http://schemas.microsoft.com/office/drawing/2014/main" id="{DC577D27-B65D-4CF5-B6E2-434F8FE8A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>
            <a:extLst>
              <a:ext uri="{FF2B5EF4-FFF2-40B4-BE49-F238E27FC236}">
                <a16:creationId xmlns:a16="http://schemas.microsoft.com/office/drawing/2014/main" id="{EACBB268-9EC8-4735-B161-A127F022F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>
            <a:extLst>
              <a:ext uri="{FF2B5EF4-FFF2-40B4-BE49-F238E27FC236}">
                <a16:creationId xmlns:a16="http://schemas.microsoft.com/office/drawing/2014/main" id="{96D0C8DD-11F2-4814-AC67-49789E93F8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>
            <a:extLst>
              <a:ext uri="{FF2B5EF4-FFF2-40B4-BE49-F238E27FC236}">
                <a16:creationId xmlns:a16="http://schemas.microsoft.com/office/drawing/2014/main" id="{7DE59044-401B-4A53-826E-CC0FDD7A28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3939" name="Rectangle 3">
            <a:extLst>
              <a:ext uri="{FF2B5EF4-FFF2-40B4-BE49-F238E27FC236}">
                <a16:creationId xmlns:a16="http://schemas.microsoft.com/office/drawing/2014/main" id="{8817AE46-227B-4F66-BD83-4F06BFEE6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FD57643-8A24-404C-B5EF-88FBA9FDCCFB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702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A55C87D-B72E-41FE-97E8-AC3EA7423278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28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62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D2305D-68AB-417A-9457-51418825D650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4357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5CA672-673B-4FEE-8D33-C2B0F8F06B31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491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239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2392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8147A1-8CCF-4EC8-9AC0-5405112943EB}" type="slidenum">
              <a:rPr lang="en-GB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31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98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71C454-FA84-4C82-BF4E-B52D54707C0C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79676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1A9CE2-A501-4CCB-BD76-CB6509E6B224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938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72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2864C46-395E-45F3-87B0-3FD53EB0274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96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•"/>
            </a:pPr>
            <a:endParaRPr lang="en-US" altLang="en-US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2E0EE5-A286-41DB-A7DB-5E5D07B8AAA0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859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/>
          <p:cNvGrpSpPr>
            <a:grpSpLocks/>
          </p:cNvGrpSpPr>
          <p:nvPr/>
        </p:nvGrpSpPr>
        <p:grpSpPr bwMode="auto">
          <a:xfrm>
            <a:off x="1" y="2438402"/>
            <a:ext cx="9009063" cy="1052513"/>
            <a:chOff x="0" y="1536"/>
            <a:chExt cx="5675" cy="663"/>
          </a:xfrm>
        </p:grpSpPr>
        <p:grpSp>
          <p:nvGrpSpPr>
            <p:cNvPr id="14339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434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1434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</p:grpSp>
        <p:grpSp>
          <p:nvGrpSpPr>
            <p:cNvPr id="14342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4343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  <p:sp>
            <p:nvSpPr>
              <p:cNvPr id="14344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800"/>
              </a:p>
            </p:txBody>
          </p:sp>
        </p:grp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</p:grp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TW" noProof="0"/>
              <a:t>Click to edit Master title style</a:t>
            </a: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zh-TW" noProof="0"/>
              <a:t>Click to edit Master subtitle style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2A3B38F-4BB9-4B84-A718-E701F5F61BFF}" type="slidenum">
              <a:rPr lang="zh-TW" altLang="en-US"/>
              <a:pPr/>
              <a:t>‹#›</a:t>
            </a:fld>
            <a:endParaRPr lang="en-US" altLang="zh-TW"/>
          </a:p>
        </p:txBody>
      </p: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8694738" y="6553201"/>
            <a:ext cx="45236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fld id="{2C40EF5C-255D-4934-B9A0-62AEADA2BDE0}" type="slidenum">
              <a:rPr lang="zh-TW" altLang="en-US" sz="1400">
                <a:solidFill>
                  <a:schemeClr val="bg2"/>
                </a:solidFill>
                <a:ea typeface="新細明體" panose="02020500000000000000" pitchFamily="18" charset="-120"/>
              </a:rPr>
              <a:pPr/>
              <a:t>‹#›</a:t>
            </a:fld>
            <a:endParaRPr lang="en-US" altLang="zh-TW" sz="1400">
              <a:solidFill>
                <a:schemeClr val="bg2"/>
              </a:solidFill>
              <a:ea typeface="新細明體" panose="02020500000000000000" pitchFamily="18" charset="-120"/>
            </a:endParaRPr>
          </a:p>
        </p:txBody>
      </p:sp>
      <p:sp>
        <p:nvSpPr>
          <p:cNvPr id="18" name="Rectangle 12"/>
          <p:cNvSpPr txBox="1">
            <a:spLocks noChangeArrowheads="1"/>
          </p:cNvSpPr>
          <p:nvPr userDrawn="1"/>
        </p:nvSpPr>
        <p:spPr bwMode="auto">
          <a:xfrm>
            <a:off x="2324100" y="6515100"/>
            <a:ext cx="449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en-US" altLang="zh-TW" sz="1200" dirty="0"/>
              <a:t>Department of Computer Science | FAST-NU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4519D7-72CF-4E2F-9117-DDCEB192D565}" type="slidenum">
              <a:rPr lang="zh-TW" altLang="en-US"/>
              <a:pPr/>
              <a:t>‹#›</a:t>
            </a:fld>
            <a:endParaRPr lang="en-US" altLang="zh-TW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676400" y="6515100"/>
            <a:ext cx="51435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新細明體" panose="02020500000000000000" pitchFamily="18" charset="-120"/>
              </a:defRPr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8421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5A443-98C7-4A63-BF90-19CA953AB19C}" type="slidenum">
              <a:rPr lang="zh-TW" altLang="en-US"/>
              <a:pPr/>
              <a:t>‹#›</a:t>
            </a:fld>
            <a:endParaRPr lang="en-US" altLang="zh-TW"/>
          </a:p>
        </p:txBody>
      </p:sp>
      <p:sp>
        <p:nvSpPr>
          <p:cNvPr id="7" name="Rectangle 12"/>
          <p:cNvSpPr txBox="1">
            <a:spLocks noChangeArrowheads="1"/>
          </p:cNvSpPr>
          <p:nvPr userDrawn="1"/>
        </p:nvSpPr>
        <p:spPr bwMode="auto">
          <a:xfrm>
            <a:off x="2514600" y="6477000"/>
            <a:ext cx="449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9pPr>
          </a:lstStyle>
          <a:p>
            <a:r>
              <a:rPr lang="en-US" altLang="zh-TW" sz="1200" dirty="0"/>
              <a:t>Department of Computer Science | FAST-NU</a:t>
            </a:r>
          </a:p>
        </p:txBody>
      </p:sp>
    </p:spTree>
    <p:extLst>
      <p:ext uri="{BB962C8B-B14F-4D97-AF65-F5344CB8AC3E}">
        <p14:creationId xmlns:p14="http://schemas.microsoft.com/office/powerpoint/2010/main" val="423089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1482892"/>
            <a:ext cx="4152900" cy="5105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447800"/>
            <a:ext cx="4152900" cy="5105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561106-B3C8-457C-BE66-FB62641EC59E}" type="slidenum">
              <a:rPr lang="zh-TW" altLang="en-US"/>
              <a:pPr/>
              <a:t>‹#›</a:t>
            </a:fld>
            <a:endParaRPr lang="en-US" altLang="zh-TW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86769" y="6623384"/>
            <a:ext cx="50673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新細明體" panose="02020500000000000000" pitchFamily="18" charset="-120"/>
              </a:defRPr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1305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830057-D234-4D55-A1B3-F98D83D9281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322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27CD79-CA13-421C-A7C5-683957AB32A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441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49F6ED-63A2-45A5-91F4-232D0943B13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360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D1A70B-7D97-419F-B4F2-7D4EA747DB1B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8189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E739FD-4390-446E-A319-418A3356ACF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492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95532B-B1FB-4F50-B48E-0E45E6C7140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912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228600"/>
            <a:ext cx="2114550" cy="6324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28600"/>
            <a:ext cx="6191250" cy="63246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008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41DDE8-C809-4243-BC3E-2FFFC0BFFA7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999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800600" y="1905000"/>
            <a:ext cx="3810000" cy="41148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Design and Analysis of Algorithm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ea typeface="Microsoft JhengHei" panose="020B0604030504040204" pitchFamily="34" charset="-120"/>
              </a:defRPr>
            </a:lvl1pPr>
          </a:lstStyle>
          <a:p>
            <a:fld id="{7E9ABDFA-22D8-44CC-9163-68CD65DEBAC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6529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Design and Analysis of Algorithm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497A07-E1E5-468F-B2EC-DBAAD238E8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866900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28600"/>
            <a:ext cx="7543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33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33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24100" y="6515100"/>
            <a:ext cx="4495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a typeface="新細明體" panose="02020500000000000000" pitchFamily="18" charset="-120"/>
              </a:defRPr>
            </a:lvl1pPr>
          </a:lstStyle>
          <a:p>
            <a:r>
              <a:rPr lang="en-US" altLang="zh-TW"/>
              <a:t>Design and Analysis of Algorithm</a:t>
            </a:r>
            <a:endParaRPr lang="en-US" altLang="zh-TW" dirty="0"/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a typeface="新細明體" panose="02020500000000000000" pitchFamily="18" charset="-120"/>
              </a:defRPr>
            </a:lvl1pPr>
          </a:lstStyle>
          <a:p>
            <a:fld id="{9D7A21D9-DBD1-48E0-8ADF-DA34CCB4A557}" type="slidenum">
              <a:rPr lang="zh-TW" altLang="en-US"/>
              <a:pPr/>
              <a:t>‹#›</a:t>
            </a:fld>
            <a:endParaRPr lang="en-US" altLang="zh-TW"/>
          </a:p>
        </p:txBody>
      </p:sp>
      <p:graphicFrame>
        <p:nvGraphicFramePr>
          <p:cNvPr id="13335" name="Object 23"/>
          <p:cNvGraphicFramePr>
            <a:graphicFrameLocks/>
          </p:cNvGraphicFramePr>
          <p:nvPr userDrawn="1"/>
        </p:nvGraphicFramePr>
        <p:xfrm>
          <a:off x="381000" y="1143000"/>
          <a:ext cx="8382000" cy="7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15" imgW="6857143" imgH="48963" progId="MS_ClipArt_Gallery.5">
                  <p:embed/>
                </p:oleObj>
              </mc:Choice>
              <mc:Fallback>
                <p:oleObj name="Clip" r:id="rId15" imgW="6857143" imgH="48963" progId="MS_ClipArt_Gallery.5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143000"/>
                        <a:ext cx="8382000" cy="7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0" y="2005"/>
            <a:ext cx="1034716" cy="10347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7968" y="457200"/>
            <a:ext cx="7723632" cy="2743200"/>
          </a:xfrm>
          <a:solidFill>
            <a:schemeClr val="tx2"/>
          </a:solidFill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0" i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</a:rPr>
              <a:t>Course Name: CS302-Design an analysis of Algorithm </a:t>
            </a:r>
            <a:br>
              <a:rPr lang="en-US" b="0" i="1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</a:rPr>
            </a:br>
            <a:r>
              <a:rPr lang="en-US" sz="31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Credit Hours: 3</a:t>
            </a:r>
            <a:br>
              <a:rPr lang="en-US" sz="31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endParaRPr lang="en-US" sz="31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Week-2</a:t>
            </a:r>
          </a:p>
        </p:txBody>
      </p:sp>
    </p:spTree>
    <p:extLst>
      <p:ext uri="{BB962C8B-B14F-4D97-AF65-F5344CB8AC3E}">
        <p14:creationId xmlns:p14="http://schemas.microsoft.com/office/powerpoint/2010/main" val="17450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Algorithm analysis</a:t>
            </a:r>
            <a:endParaRPr lang="en-US" altLang="en-US"/>
          </a:p>
        </p:txBody>
      </p:sp>
      <p:sp>
        <p:nvSpPr>
          <p:cNvPr id="41990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just" eaLnBrk="1" hangingPunct="1">
              <a:buFont typeface="Wingdings 2" panose="05020102010507070707" pitchFamily="18" charset="2"/>
              <a:buNone/>
              <a:defRPr/>
            </a:pPr>
            <a:r>
              <a:rPr lang="en-US" altLang="en-US" b="1" dirty="0"/>
              <a:t>Objective:</a:t>
            </a:r>
          </a:p>
          <a:p>
            <a:pPr algn="just" eaLnBrk="1" hangingPunct="1">
              <a:defRPr/>
            </a:pPr>
            <a:r>
              <a:rPr lang="en-US" altLang="en-US" dirty="0"/>
              <a:t>Performance analysis is the criteria for judging the algorithm. </a:t>
            </a:r>
          </a:p>
          <a:p>
            <a:pPr algn="just" eaLnBrk="1" hangingPunct="1">
              <a:defRPr/>
            </a:pPr>
            <a:r>
              <a:rPr lang="en-US" altLang="en-US" dirty="0"/>
              <a:t>It have direct relationship to efficiency. </a:t>
            </a:r>
          </a:p>
          <a:p>
            <a:pPr algn="just" eaLnBrk="1" hangingPunct="1">
              <a:defRPr/>
            </a:pPr>
            <a:r>
              <a:rPr lang="en-US" altLang="en-US" dirty="0"/>
              <a:t>When we solve a problem ,there may be more then one algorithm to solve a problem, through analysis we find the run time of an algorithms and we choose the best algorithm which takes lesser run time.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0328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Analysis of an Algorithm</a:t>
            </a:r>
            <a:endParaRPr lang="en-US" altLang="en-US"/>
          </a:p>
        </p:txBody>
      </p:sp>
      <p:sp>
        <p:nvSpPr>
          <p:cNvPr id="28676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371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b="1" dirty="0"/>
              <a:t>What is analysis of an algorithm? </a:t>
            </a:r>
            <a:endParaRPr lang="en-US" altLang="en-US" sz="2000" dirty="0"/>
          </a:p>
          <a:p>
            <a:pPr eaLnBrk="1" hangingPunct="1"/>
            <a:r>
              <a:rPr lang="en-US" altLang="en-US" sz="2000" dirty="0"/>
              <a:t>Algorithm analysis is an important part of a computational complexity theory. </a:t>
            </a:r>
          </a:p>
          <a:p>
            <a:pPr eaLnBrk="1" hangingPunct="1"/>
            <a:r>
              <a:rPr lang="en-US" altLang="en-US" sz="2000" dirty="0"/>
              <a:t>There two types of analysis: 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r>
              <a:rPr lang="en-US" altLang="en-US" sz="2000" dirty="0"/>
              <a:t>1.priori 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r>
              <a:rPr lang="en-US" altLang="en-US" sz="2000" dirty="0"/>
              <a:t>2.posteriori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914400" y="3276600"/>
            <a:ext cx="77724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Priori Analysis is the theoretical estimation of resources required.</a:t>
            </a:r>
            <a:br>
              <a:rPr lang="en-US" dirty="0"/>
            </a:br>
            <a:endParaRPr lang="en-US" dirty="0"/>
          </a:p>
          <a:p>
            <a:pPr marL="274320" indent="-27432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/>
              <a:t>On the other hand posterior Analysis done after implement the algorithm on a target machine. In a posteriori analysis, we analyze actual statistics about the algorithms consumption of time and space, while it is executing. </a:t>
            </a:r>
          </a:p>
          <a:p>
            <a:pPr marL="0" indent="0" eaLnBrk="1" fontAlgn="auto" hangingPunct="1">
              <a:spcBef>
                <a:spcPts val="58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96285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-152400"/>
            <a:ext cx="7772400" cy="1570038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3200" b="1" dirty="0"/>
              <a:t>Strengthening the Informal Definition</a:t>
            </a:r>
            <a:br>
              <a:rPr lang="en-US" dirty="0"/>
            </a:br>
            <a:endParaRPr lang="en-US" dirty="0"/>
          </a:p>
        </p:txBody>
      </p:sp>
      <p:sp>
        <p:nvSpPr>
          <p:cNvPr id="3379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447800"/>
            <a:ext cx="8382000" cy="4572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b="1" dirty="0">
                <a:solidFill>
                  <a:schemeClr val="hlink"/>
                </a:solidFill>
              </a:rPr>
              <a:t>Important Features:</a:t>
            </a:r>
          </a:p>
          <a:p>
            <a:pPr lvl="1" eaLnBrk="1" hangingPunct="1">
              <a:defRPr/>
            </a:pPr>
            <a:r>
              <a:rPr lang="en-US" altLang="en-US" b="1" dirty="0"/>
              <a:t>Finiteness: </a:t>
            </a:r>
            <a:r>
              <a:rPr lang="en-US" altLang="en-US" dirty="0"/>
              <a:t>Algorithm should end in finite amount of steps</a:t>
            </a:r>
          </a:p>
          <a:p>
            <a:pPr lvl="1" eaLnBrk="1" hangingPunct="1">
              <a:defRPr/>
            </a:pPr>
            <a:r>
              <a:rPr lang="en-US" altLang="en-US" b="1" dirty="0"/>
              <a:t>Definiteness : </a:t>
            </a:r>
            <a:r>
              <a:rPr lang="en-US" altLang="en-US" dirty="0"/>
              <a:t>each instruction should be clear</a:t>
            </a:r>
          </a:p>
          <a:p>
            <a:pPr lvl="1" eaLnBrk="1" hangingPunct="1">
              <a:defRPr/>
            </a:pPr>
            <a:r>
              <a:rPr lang="en-US" altLang="en-US" b="1" dirty="0"/>
              <a:t>Input: </a:t>
            </a:r>
            <a:r>
              <a:rPr lang="en-US" altLang="en-US" dirty="0"/>
              <a:t>valid input clearly specified </a:t>
            </a:r>
          </a:p>
          <a:p>
            <a:pPr lvl="1" eaLnBrk="1" hangingPunct="1">
              <a:defRPr/>
            </a:pPr>
            <a:r>
              <a:rPr lang="en-US" altLang="en-US" b="1" dirty="0"/>
              <a:t>Output: </a:t>
            </a:r>
            <a:r>
              <a:rPr lang="en-US" altLang="en-US" dirty="0"/>
              <a:t>single/multiple valid  output</a:t>
            </a:r>
          </a:p>
          <a:p>
            <a:pPr lvl="1" eaLnBrk="1" hangingPunct="1">
              <a:defRPr/>
            </a:pPr>
            <a:r>
              <a:rPr lang="en-US" altLang="en-US" b="1" dirty="0"/>
              <a:t>Effectiveness: </a:t>
            </a:r>
            <a:r>
              <a:rPr lang="en-US" altLang="en-US" dirty="0"/>
              <a:t>steps are sufficiently simple and basic</a:t>
            </a:r>
          </a:p>
          <a:p>
            <a:pPr lvl="1" eaLnBrk="1" hangingPunct="1">
              <a:defRPr/>
            </a:pPr>
            <a:r>
              <a:rPr lang="en-US" b="1" dirty="0"/>
              <a:t>Generality: </a:t>
            </a:r>
            <a:r>
              <a:rPr lang="en-US" dirty="0"/>
              <a:t>the algorithm </a:t>
            </a:r>
            <a:r>
              <a:rPr lang="en-US" i="1" dirty="0"/>
              <a:t>should</a:t>
            </a:r>
            <a:r>
              <a:rPr lang="en-US" dirty="0"/>
              <a:t> be applicable to all</a:t>
            </a:r>
          </a:p>
          <a:p>
            <a:pPr marL="483235" indent="0">
              <a:buFont typeface="Wingdings 2" panose="05020102010507070707" pitchFamily="18" charset="2"/>
              <a:buNone/>
              <a:defRPr/>
            </a:pPr>
            <a:r>
              <a:rPr lang="en-US" sz="2400" dirty="0"/>
              <a:t>problems of a similar form</a:t>
            </a:r>
          </a:p>
          <a:p>
            <a:pPr lvl="1" eaLnBrk="1" hangingPunct="1">
              <a:defRPr/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421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7543800" cy="762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/>
              <a:t>What is the specification of algorithm? </a:t>
            </a:r>
            <a:endParaRPr lang="en-US" dirty="0"/>
          </a:p>
        </p:txBody>
      </p:sp>
      <p:sp>
        <p:nvSpPr>
          <p:cNvPr id="20484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endParaRPr lang="en-US" altLang="en-US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We can specify an algorithm by 3 types: 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dirty="0"/>
              <a:t> Using Natural language 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dirty="0"/>
              <a:t> Pseudocode 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dirty="0"/>
              <a:t> Flowchart. </a:t>
            </a:r>
          </a:p>
          <a:p>
            <a:pPr eaLnBrk="1" hangingPunct="1"/>
            <a:endParaRPr lang="en-US" alt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4157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b="1">
                <a:solidFill>
                  <a:schemeClr val="tx1"/>
                </a:solidFill>
                <a:ea typeface="新細明體" panose="02020500000000000000" pitchFamily="18" charset="-120"/>
              </a:rPr>
              <a:t>Running Time  </a:t>
            </a:r>
            <a:r>
              <a:rPr lang="en-US" altLang="zh-TW">
                <a:ea typeface="新細明體" panose="02020500000000000000" pitchFamily="18" charset="-120"/>
              </a:rPr>
              <a:t>	</a:t>
            </a:r>
          </a:p>
        </p:txBody>
      </p:sp>
      <p:sp>
        <p:nvSpPr>
          <p:cNvPr id="47107" name="Rectangle 3" descr="Rectangle: Click to edit Master text styles&#10;Second level&#10;Third level&#10;Fourth level&#10;Fifth level"/>
          <p:cNvSpPr>
            <a:spLocks noGrp="1"/>
          </p:cNvSpPr>
          <p:nvPr>
            <p:ph type="body" sz="half" idx="1"/>
          </p:nvPr>
        </p:nvSpPr>
        <p:spPr>
          <a:xfrm>
            <a:off x="609600" y="1676400"/>
            <a:ext cx="4419600" cy="4800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zh-TW" sz="2400" dirty="0"/>
              <a:t>Most algorithms transform input objects into output objects.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TW" sz="2400" dirty="0"/>
              <a:t>The running time of an algorithm typically grows with the input size.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TW" sz="2400" dirty="0"/>
              <a:t>We focus on the </a:t>
            </a:r>
            <a:r>
              <a:rPr lang="en-US" altLang="zh-TW" sz="2400" u="sng" dirty="0"/>
              <a:t>worst case running time</a:t>
            </a:r>
            <a:r>
              <a:rPr lang="en-US" altLang="zh-TW" sz="2400" dirty="0"/>
              <a:t>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TW" sz="2000" dirty="0"/>
              <a:t>Easier to analyze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zh-TW" sz="2000" dirty="0"/>
              <a:t>Crucial to applications such as games, finance and robotics</a:t>
            </a:r>
          </a:p>
        </p:txBody>
      </p:sp>
      <p:graphicFrame>
        <p:nvGraphicFramePr>
          <p:cNvPr id="47108" name="Object 4"/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4724400" y="1676400"/>
          <a:ext cx="3943350" cy="420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943347" imgH="4200532" progId="MSGraph.Chart.8">
                  <p:embed followColorScheme="full"/>
                </p:oleObj>
              </mc:Choice>
              <mc:Fallback>
                <p:oleObj name="Chart" r:id="rId3" imgW="3943347" imgH="4200532" progId="MSGraph.Chart.8">
                  <p:embed followColorScheme="full"/>
                  <p:pic>
                    <p:nvPicPr>
                      <p:cNvPr id="47108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1676400"/>
                        <a:ext cx="3943350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BDFA-22D8-44CC-9163-68CD65DEBAC4}" type="slidenum">
              <a:rPr lang="zh-TW" altLang="en-US" smtClean="0"/>
              <a:pPr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57642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zh-TW" b="1" dirty="0">
                <a:ea typeface="新細明體" panose="02020500000000000000" pitchFamily="18" charset="-120"/>
              </a:rPr>
              <a:t>Experimental Studies</a:t>
            </a:r>
          </a:p>
        </p:txBody>
      </p:sp>
      <p:sp>
        <p:nvSpPr>
          <p:cNvPr id="48131" name="Rectangle 3" descr="Rectangle: Click to edit Master text styles&#10;Second level&#10;Third level&#10;Fourth level&#10;Fifth level"/>
          <p:cNvSpPr>
            <a:spLocks noGrp="1"/>
          </p:cNvSpPr>
          <p:nvPr>
            <p:ph type="body" sz="half" idx="1"/>
          </p:nvPr>
        </p:nvSpPr>
        <p:spPr>
          <a:xfrm>
            <a:off x="685800" y="1905000"/>
            <a:ext cx="41910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Write a program implementing the algorithm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Run the program with inputs of varying size and composition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Use a method like (tic; toc; in </a:t>
            </a:r>
            <a:r>
              <a:rPr lang="en-US" altLang="zh-TW" sz="2400" dirty="0" err="1"/>
              <a:t>Matlab</a:t>
            </a:r>
            <a:r>
              <a:rPr lang="en-US" altLang="zh-TW" sz="2400" dirty="0"/>
              <a:t>) to get an accurate measure of the actual running time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dirty="0"/>
              <a:t>Plot the results</a:t>
            </a:r>
          </a:p>
        </p:txBody>
      </p:sp>
      <p:graphicFrame>
        <p:nvGraphicFramePr>
          <p:cNvPr id="48132" name="Object 4"/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4800600" y="1963738"/>
          <a:ext cx="3810000" cy="399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429265" imgH="4648323" progId="MSGraph.Chart.8">
                  <p:embed followColorScheme="full"/>
                </p:oleObj>
              </mc:Choice>
              <mc:Fallback>
                <p:oleObj name="Chart" r:id="rId2" imgW="4429265" imgH="4648323" progId="MSGraph.Chart.8">
                  <p:embed followColorScheme="full"/>
                  <p:pic>
                    <p:nvPicPr>
                      <p:cNvPr id="48132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963738"/>
                        <a:ext cx="3810000" cy="399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ABDFA-22D8-44CC-9163-68CD65DEBAC4}" type="slidenum">
              <a:rPr lang="zh-TW" altLang="en-US" smtClean="0"/>
              <a:pPr/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6096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>
                <a:ea typeface="新細明體" panose="02020500000000000000" pitchFamily="18" charset="-120"/>
              </a:rPr>
              <a:t>Limitations of Experiments</a:t>
            </a:r>
          </a:p>
        </p:txBody>
      </p:sp>
      <p:sp>
        <p:nvSpPr>
          <p:cNvPr id="49156" name="Rectangle 3" descr="Rectangle: Click to edit Master text styles&#10;Second level&#10;Third level&#10;Fourth level&#10;Fifth level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80772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It is necessary to </a:t>
            </a:r>
            <a:r>
              <a:rPr lang="en-US" altLang="zh-TW" dirty="0">
                <a:solidFill>
                  <a:srgbClr val="00B0F0"/>
                </a:solidFill>
              </a:rPr>
              <a:t>implement</a:t>
            </a:r>
            <a:r>
              <a:rPr lang="en-US" altLang="zh-TW" dirty="0"/>
              <a:t> the algorithm, which may be difficult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Results may not be indicative of the running time on </a:t>
            </a:r>
            <a:r>
              <a:rPr lang="en-US" altLang="zh-TW" dirty="0">
                <a:solidFill>
                  <a:srgbClr val="00B0F0"/>
                </a:solidFill>
              </a:rPr>
              <a:t>other inputs </a:t>
            </a:r>
            <a:r>
              <a:rPr lang="en-US" altLang="zh-TW" dirty="0"/>
              <a:t>not included in the experiment.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In order to compare two algorithms, the same </a:t>
            </a:r>
            <a:r>
              <a:rPr lang="en-US" altLang="zh-TW" dirty="0">
                <a:solidFill>
                  <a:srgbClr val="00B0F0"/>
                </a:solidFill>
              </a:rPr>
              <a:t>hardware and software environments </a:t>
            </a:r>
            <a:r>
              <a:rPr lang="en-US" altLang="zh-TW" dirty="0"/>
              <a:t>must be used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649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>
                <a:ea typeface="新細明體" panose="02020500000000000000" pitchFamily="18" charset="-120"/>
              </a:rPr>
              <a:t>Theoretical Analysis</a:t>
            </a:r>
          </a:p>
        </p:txBody>
      </p:sp>
      <p:sp>
        <p:nvSpPr>
          <p:cNvPr id="50180" name="Rectangle 3" descr="Rectangle: Click to edit Master text styles&#10;Second level&#10;Third level&#10;Fourth level&#10;Fifth level"/>
          <p:cNvSpPr>
            <a:spLocks noGrp="1"/>
          </p:cNvSpPr>
          <p:nvPr>
            <p:ph sz="quarter" idx="1"/>
          </p:nvPr>
        </p:nvSpPr>
        <p:spPr>
          <a:xfrm>
            <a:off x="533400" y="2133600"/>
            <a:ext cx="8305800" cy="4267200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00B0F0"/>
                </a:solidFill>
              </a:rPr>
              <a:t>Uses a high-level description </a:t>
            </a:r>
            <a:r>
              <a:rPr lang="en-US" altLang="zh-TW" dirty="0"/>
              <a:t>of the algorithm (Pseudo code) instead of an implementation</a:t>
            </a:r>
          </a:p>
          <a:p>
            <a:pPr eaLnBrk="1" hangingPunct="1"/>
            <a:r>
              <a:rPr lang="en-US" altLang="zh-TW" dirty="0"/>
              <a:t>Characterizes running time as </a:t>
            </a:r>
            <a:r>
              <a:rPr lang="en-US" altLang="zh-TW" dirty="0">
                <a:solidFill>
                  <a:srgbClr val="00B0F0"/>
                </a:solidFill>
              </a:rPr>
              <a:t>a function of the input size, </a:t>
            </a:r>
            <a:r>
              <a:rPr lang="en-US" altLang="zh-TW" i="1" dirty="0">
                <a:solidFill>
                  <a:srgbClr val="00B0F0"/>
                </a:solidFill>
              </a:rPr>
              <a:t>n</a:t>
            </a:r>
            <a:r>
              <a:rPr lang="en-US" altLang="zh-TW" dirty="0">
                <a:solidFill>
                  <a:srgbClr val="00B0F0"/>
                </a:solidFill>
              </a:rPr>
              <a:t>.</a:t>
            </a:r>
          </a:p>
          <a:p>
            <a:pPr eaLnBrk="1" hangingPunct="1"/>
            <a:r>
              <a:rPr lang="en-US" altLang="zh-TW" dirty="0"/>
              <a:t>Takes into account </a:t>
            </a:r>
            <a:r>
              <a:rPr lang="en-US" altLang="zh-TW" dirty="0">
                <a:solidFill>
                  <a:srgbClr val="00B0F0"/>
                </a:solidFill>
              </a:rPr>
              <a:t>all possible inputs</a:t>
            </a:r>
          </a:p>
          <a:p>
            <a:pPr eaLnBrk="1" hangingPunct="1"/>
            <a:r>
              <a:rPr lang="en-US" altLang="zh-TW" dirty="0"/>
              <a:t>Allows us to evaluate the speed of an algorithm </a:t>
            </a:r>
            <a:r>
              <a:rPr lang="en-US" altLang="zh-TW" dirty="0">
                <a:solidFill>
                  <a:srgbClr val="00B0F0"/>
                </a:solidFill>
              </a:rPr>
              <a:t>independent of the hardware/software environment</a:t>
            </a:r>
          </a:p>
        </p:txBody>
      </p:sp>
      <p:graphicFrame>
        <p:nvGraphicFramePr>
          <p:cNvPr id="50181" name="Object 4"/>
          <p:cNvGraphicFramePr>
            <a:graphicFrameLocks noChangeAspect="1"/>
          </p:cNvGraphicFramePr>
          <p:nvPr/>
        </p:nvGraphicFramePr>
        <p:xfrm>
          <a:off x="7162800" y="228600"/>
          <a:ext cx="14954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309813" imgH="3176588" progId="MS_ClipArt_Gallery.2">
                  <p:embed/>
                </p:oleObj>
              </mc:Choice>
              <mc:Fallback>
                <p:oleObj name="Clip" r:id="rId3" imgW="2309813" imgH="3176588" progId="MS_ClipArt_Gallery.2">
                  <p:embed/>
                  <p:pic>
                    <p:nvPicPr>
                      <p:cNvPr id="5018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28600"/>
                        <a:ext cx="1495425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6832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0E6D-7183-4599-8BB8-3BA13FEE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Notations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CD79-CA13-421C-A7C5-683957AB32AC}" type="slidenum">
              <a:rPr lang="zh-TW" altLang="en-US" smtClean="0"/>
              <a:pPr/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2442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6D780F62-45BF-40A2-BC65-EF2D36A3B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-notation</a:t>
            </a:r>
          </a:p>
        </p:txBody>
      </p:sp>
      <p:pic>
        <p:nvPicPr>
          <p:cNvPr id="394261" name="Picture 21" descr="graph_thet">
            <a:extLst>
              <a:ext uri="{FF2B5EF4-FFF2-40B4-BE49-F238E27FC236}">
                <a16:creationId xmlns:a16="http://schemas.microsoft.com/office/drawing/2014/main" id="{F1FC6A17-811A-4D65-B852-E4C31458C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387475"/>
            <a:ext cx="2976563" cy="3086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4262" name="Rectangle 22">
            <a:extLst>
              <a:ext uri="{FF2B5EF4-FFF2-40B4-BE49-F238E27FC236}">
                <a16:creationId xmlns:a16="http://schemas.microsoft.com/office/drawing/2014/main" id="{EC6F7DEF-8394-4FA1-B526-E68E61BFC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417" y="2030413"/>
            <a:ext cx="4870450" cy="2412968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kumimoji="1" lang="en-US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=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3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: </a:t>
            </a:r>
            <a:b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en-US" sz="2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 </a:t>
            </a:r>
            <a:r>
              <a:rPr kumimoji="1" lang="en-US" altLang="en-US" sz="2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constants </a:t>
            </a:r>
            <a:r>
              <a:rPr kumimoji="1" lang="en-US" altLang="en-US" sz="26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en-US" sz="2600" b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en-US" sz="2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en-US" sz="26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en-US" sz="2600" b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en-US" sz="2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1" lang="en-US" altLang="en-US" sz="26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26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that </a:t>
            </a:r>
            <a:r>
              <a:rPr kumimoji="1"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kumimoji="1"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n</a:t>
            </a:r>
            <a:r>
              <a:rPr kumimoji="1" lang="en-US" altLang="en-US" b="1" baseline="-250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1" lang="en-US" altLang="en-US" sz="26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en-US" sz="2600" b="1" baseline="-25000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kumimoji="1" lang="en-US" altLang="en-US" sz="2600" b="1" baseline="-25000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3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94263" name="Rectangle 23">
            <a:extLst>
              <a:ext uri="{FF2B5EF4-FFF2-40B4-BE49-F238E27FC236}">
                <a16:creationId xmlns:a16="http://schemas.microsoft.com/office/drawing/2014/main" id="{3792EAF8-5299-442F-ADCD-331EC7BA5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068388"/>
            <a:ext cx="51974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function 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we define 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)), big-Theta of 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the set:</a:t>
            </a:r>
          </a:p>
        </p:txBody>
      </p:sp>
      <p:sp>
        <p:nvSpPr>
          <p:cNvPr id="394264" name="Rectangle 24">
            <a:extLst>
              <a:ext uri="{FF2B5EF4-FFF2-40B4-BE49-F238E27FC236}">
                <a16:creationId xmlns:a16="http://schemas.microsoft.com/office/drawing/2014/main" id="{7EDFBDEC-1E86-4E91-B3B4-3EDA2BA66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5567363"/>
            <a:ext cx="6350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an </a:t>
            </a:r>
            <a:r>
              <a:rPr kumimoji="1" lang="en-US" altLang="en-US" sz="2600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asymptotically tight bound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394265" name="Text Box 25">
            <a:extLst>
              <a:ext uri="{FF2B5EF4-FFF2-40B4-BE49-F238E27FC236}">
                <a16:creationId xmlns:a16="http://schemas.microsoft.com/office/drawing/2014/main" id="{EA08E8C2-B7A0-4F54-9A89-07260ED9F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4405313"/>
            <a:ext cx="550932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Intuitively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Set of all functions that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 same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of growth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CD79-CA13-421C-A7C5-683957AB32AC}" type="slidenum">
              <a:rPr lang="zh-TW" altLang="en-US" smtClean="0"/>
              <a:pPr/>
              <a:t>11</a:t>
            </a:fld>
            <a:endParaRPr lang="en-US" altLang="zh-TW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51F3E0F-E7C0-452E-A958-2DF02E61341F}" type="slidenum">
              <a:rPr lang="en-US" altLang="en-US" sz="1400">
                <a:latin typeface="Arial Narrow" panose="020B0606020202030204" pitchFamily="34" charset="0"/>
              </a:rPr>
              <a:pPr/>
              <a:t>12</a:t>
            </a:fld>
            <a:endParaRPr lang="en-US" altLang="en-US" sz="1400">
              <a:latin typeface="Arial Narrow" panose="020B0606020202030204" pitchFamily="34" charset="0"/>
            </a:endParaRPr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730567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8600"/>
            <a:ext cx="23431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207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>
            <a:extLst>
              <a:ext uri="{FF2B5EF4-FFF2-40B4-BE49-F238E27FC236}">
                <a16:creationId xmlns:a16="http://schemas.microsoft.com/office/drawing/2014/main" id="{F8468BC0-2803-4A0F-BAE5-09E0E4145E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-notation</a:t>
            </a:r>
          </a:p>
        </p:txBody>
      </p:sp>
      <p:sp>
        <p:nvSpPr>
          <p:cNvPr id="487428" name="Rectangle 4">
            <a:extLst>
              <a:ext uri="{FF2B5EF4-FFF2-40B4-BE49-F238E27FC236}">
                <a16:creationId xmlns:a16="http://schemas.microsoft.com/office/drawing/2014/main" id="{CBA249DF-F5F1-4CFA-AA8D-80EE6B19F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54213"/>
            <a:ext cx="4854576" cy="1932837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1" lang="en-US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=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3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: </a:t>
            </a:r>
            <a:b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en-US" sz="2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 </a:t>
            </a:r>
            <a:r>
              <a:rPr kumimoji="1" lang="en-US" altLang="en-US" sz="2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constants </a:t>
            </a:r>
            <a:r>
              <a:rPr kumimoji="1" lang="en-US" altLang="en-US" sz="26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en-US" sz="2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1" lang="en-US" altLang="en-US" sz="26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26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that </a:t>
            </a:r>
            <a:r>
              <a:rPr kumimoji="1"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kumimoji="1"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n</a:t>
            </a:r>
            <a:r>
              <a:rPr kumimoji="1" lang="en-US" altLang="en-US" b="1" baseline="-250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1" lang="en-US" altLang="en-US" sz="26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en-US" altLang="en-US" sz="3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87429" name="Rectangle 5">
            <a:extLst>
              <a:ext uri="{FF2B5EF4-FFF2-40B4-BE49-F238E27FC236}">
                <a16:creationId xmlns:a16="http://schemas.microsoft.com/office/drawing/2014/main" id="{1AD6B42C-1CBC-45A8-9F38-E5B486BBA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068388"/>
            <a:ext cx="47656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function 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we define 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)), big-O of 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the set:</a:t>
            </a:r>
          </a:p>
        </p:txBody>
      </p:sp>
      <p:pic>
        <p:nvPicPr>
          <p:cNvPr id="487432" name="Picture 8" descr="graph_O">
            <a:extLst>
              <a:ext uri="{FF2B5EF4-FFF2-40B4-BE49-F238E27FC236}">
                <a16:creationId xmlns:a16="http://schemas.microsoft.com/office/drawing/2014/main" id="{E423EEF5-D17C-4E73-B8BC-5CBDDAE0EC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89521" y="1320800"/>
            <a:ext cx="3819525" cy="38401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87434" name="Rectangle 10">
            <a:extLst>
              <a:ext uri="{FF2B5EF4-FFF2-40B4-BE49-F238E27FC236}">
                <a16:creationId xmlns:a16="http://schemas.microsoft.com/office/drawing/2014/main" id="{001DD653-E50F-4463-BF84-CC13FC82F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089" y="5564101"/>
            <a:ext cx="6018213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an </a:t>
            </a:r>
            <a:r>
              <a:rPr kumimoji="1" lang="en-US" altLang="en-US" sz="2600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asymptotic upper bound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487435" name="Text Box 11">
            <a:extLst>
              <a:ext uri="{FF2B5EF4-FFF2-40B4-BE49-F238E27FC236}">
                <a16:creationId xmlns:a16="http://schemas.microsoft.com/office/drawing/2014/main" id="{F3D6D8F0-5AAA-4045-A42C-CDDCC456F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3905250"/>
            <a:ext cx="454977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Intuitively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Set of all functions whose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of growth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same as or lower than that of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487436" name="Text Box 12">
            <a:extLst>
              <a:ext uri="{FF2B5EF4-FFF2-40B4-BE49-F238E27FC236}">
                <a16:creationId xmlns:a16="http://schemas.microsoft.com/office/drawing/2014/main" id="{47B058AF-E097-4626-8F67-915E6708A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150" y="6050660"/>
            <a:ext cx="81946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(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 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)).</a:t>
            </a:r>
          </a:p>
          <a:p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(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  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18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18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13</a:t>
            </a:fld>
            <a:endParaRPr lang="en-US" altLang="zh-TW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>
            <a:extLst>
              <a:ext uri="{FF2B5EF4-FFF2-40B4-BE49-F238E27FC236}">
                <a16:creationId xmlns:a16="http://schemas.microsoft.com/office/drawing/2014/main" id="{F869D174-A149-44BF-9DB1-E83E628729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ym typeface="Symbol" panose="05050102010706020507" pitchFamily="18" charset="2"/>
              </a:rPr>
              <a:t> -notation</a:t>
            </a:r>
          </a:p>
        </p:txBody>
      </p:sp>
      <p:sp>
        <p:nvSpPr>
          <p:cNvPr id="444422" name="Rectangle 6">
            <a:extLst>
              <a:ext uri="{FF2B5EF4-FFF2-40B4-BE49-F238E27FC236}">
                <a16:creationId xmlns:a16="http://schemas.microsoft.com/office/drawing/2014/main" id="{65832F8A-57A1-4E87-A350-25C345193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591414"/>
            <a:ext cx="6054749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an </a:t>
            </a:r>
            <a:r>
              <a:rPr kumimoji="1" lang="en-US" altLang="en-US" sz="2600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asymptotic lower bound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444423" name="Text Box 7">
            <a:extLst>
              <a:ext uri="{FF2B5EF4-FFF2-40B4-BE49-F238E27FC236}">
                <a16:creationId xmlns:a16="http://schemas.microsoft.com/office/drawing/2014/main" id="{7FF68206-7543-4F39-AE2A-828E11B98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852863"/>
            <a:ext cx="444786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Intuitively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Set of all functions whose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rate of growth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is the same as or higher than that of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444426" name="Picture 10" descr="graph_Omega">
            <a:extLst>
              <a:ext uri="{FF2B5EF4-FFF2-40B4-BE49-F238E27FC236}">
                <a16:creationId xmlns:a16="http://schemas.microsoft.com/office/drawing/2014/main" id="{138D9678-2458-48B2-8AC2-DBB41D238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765" y="1096963"/>
            <a:ext cx="2886497" cy="300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4427" name="Text Box 11">
            <a:extLst>
              <a:ext uri="{FF2B5EF4-FFF2-40B4-BE49-F238E27FC236}">
                <a16:creationId xmlns:a16="http://schemas.microsoft.com/office/drawing/2014/main" id="{FD0E4984-305E-4970-A14D-CFD8093E6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087" y="6084710"/>
            <a:ext cx="460533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(</a:t>
            </a:r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 </a:t>
            </a:r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(</a:t>
            </a:r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)).</a:t>
            </a:r>
          </a:p>
          <a:p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(</a:t>
            </a:r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  (</a:t>
            </a:r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0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)).</a:t>
            </a:r>
          </a:p>
        </p:txBody>
      </p:sp>
      <p:sp>
        <p:nvSpPr>
          <p:cNvPr id="444428" name="Rectangle 12">
            <a:extLst>
              <a:ext uri="{FF2B5EF4-FFF2-40B4-BE49-F238E27FC236}">
                <a16:creationId xmlns:a16="http://schemas.microsoft.com/office/drawing/2014/main" id="{CAECA069-70E5-4032-A0D0-F7DB5916D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954213"/>
            <a:ext cx="4929928" cy="1932837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en-US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=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3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: </a:t>
            </a:r>
            <a:b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en-US" sz="2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 </a:t>
            </a:r>
            <a:r>
              <a:rPr kumimoji="1" lang="en-US" altLang="en-US" sz="2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positive constants </a:t>
            </a:r>
            <a:r>
              <a:rPr kumimoji="1" lang="en-US" altLang="en-US" sz="26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en-US" sz="26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1" lang="en-US" altLang="en-US" sz="2600" b="1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b="1" baseline="-25000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2600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that </a:t>
            </a:r>
            <a:r>
              <a:rPr kumimoji="1"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kumimoji="1"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n</a:t>
            </a:r>
            <a:r>
              <a:rPr kumimoji="1" lang="en-US" altLang="en-US" b="1" baseline="-25000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en-US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kumimoji="1" lang="en-US" altLang="en-US" sz="2600" b="1" dirty="0">
              <a:solidFill>
                <a:srgbClr val="CC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2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en-US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en-US" sz="26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1" lang="en-US" altLang="en-US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en-US" altLang="en-US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en-US" altLang="en-US" sz="3000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44429" name="Rectangle 13">
            <a:extLst>
              <a:ext uri="{FF2B5EF4-FFF2-40B4-BE49-F238E27FC236}">
                <a16:creationId xmlns:a16="http://schemas.microsoft.com/office/drawing/2014/main" id="{BDB3976D-CDB4-41AC-9FED-B79256F35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1068388"/>
            <a:ext cx="526094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anose="05000000000000000000" pitchFamily="2" charset="2"/>
              <a:buNone/>
            </a:pP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function 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we define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)), big-Omega of </a:t>
            </a:r>
            <a:r>
              <a:rPr kumimoji="1" lang="en-US" alt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the set: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CD79-CA13-421C-A7C5-683957AB32AC}" type="slidenum">
              <a:rPr lang="zh-TW" altLang="en-US" smtClean="0"/>
              <a:pPr/>
              <a:t>14</a:t>
            </a:fld>
            <a:endParaRPr lang="en-US" altLang="zh-TW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>
            <a:extLst>
              <a:ext uri="{FF2B5EF4-FFF2-40B4-BE49-F238E27FC236}">
                <a16:creationId xmlns:a16="http://schemas.microsoft.com/office/drawing/2014/main" id="{1E0EF382-B45C-4D18-B592-AAA2B3F8F5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Relations Between </a:t>
            </a:r>
            <a:r>
              <a:rPr lang="en-US" altLang="en-US">
                <a:latin typeface="Symbol" panose="05050102010706020507" pitchFamily="18" charset="2"/>
              </a:rPr>
              <a:t>Q</a:t>
            </a:r>
            <a:r>
              <a:rPr lang="en-US" altLang="en-US"/>
              <a:t>, </a:t>
            </a:r>
            <a:r>
              <a:rPr lang="en-US" altLang="en-US" i="1"/>
              <a:t>O, </a:t>
            </a:r>
            <a:r>
              <a:rPr lang="en-US" altLang="en-US">
                <a:latin typeface="Symbol" panose="05050102010706020507" pitchFamily="18" charset="2"/>
              </a:rPr>
              <a:t>W</a:t>
            </a:r>
            <a:endParaRPr lang="en-US" altLang="en-US"/>
          </a:p>
        </p:txBody>
      </p:sp>
      <p:pic>
        <p:nvPicPr>
          <p:cNvPr id="478211" name="Picture 3" descr="graph_thet">
            <a:extLst>
              <a:ext uri="{FF2B5EF4-FFF2-40B4-BE49-F238E27FC236}">
                <a16:creationId xmlns:a16="http://schemas.microsoft.com/office/drawing/2014/main" id="{39C16E3E-B156-487B-8692-2AF9054DB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25" y="1524000"/>
            <a:ext cx="2654300" cy="298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8212" name="Picture 4" descr="graph_O">
            <a:extLst>
              <a:ext uri="{FF2B5EF4-FFF2-40B4-BE49-F238E27FC236}">
                <a16:creationId xmlns:a16="http://schemas.microsoft.com/office/drawing/2014/main" id="{BE5BEFC8-7379-40AA-8AFF-21BA253F4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1524000"/>
            <a:ext cx="2654300" cy="298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8213" name="Picture 5" descr="graph_Omega">
            <a:extLst>
              <a:ext uri="{FF2B5EF4-FFF2-40B4-BE49-F238E27FC236}">
                <a16:creationId xmlns:a16="http://schemas.microsoft.com/office/drawing/2014/main" id="{30A73B66-621F-4E3E-BE02-C3267A4E0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113" y="1524000"/>
            <a:ext cx="2654300" cy="298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CD79-CA13-421C-A7C5-683957AB32AC}" type="slidenum">
              <a:rPr lang="zh-TW" altLang="en-US" smtClean="0"/>
              <a:pPr/>
              <a:t>15</a:t>
            </a:fld>
            <a:endParaRPr lang="en-US" altLang="zh-TW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44323ED5-5CB3-42B4-A135-DBF6956F77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Between </a:t>
            </a:r>
            <a:r>
              <a:rPr lang="en-US" altLang="en-US" sz="3600" dirty="0">
                <a:latin typeface="Symbol" panose="05050102010706020507" pitchFamily="18" charset="2"/>
              </a:rPr>
              <a:t>Q</a:t>
            </a:r>
            <a:r>
              <a:rPr lang="en-US" altLang="en-US" sz="3600" dirty="0"/>
              <a:t>, </a:t>
            </a:r>
            <a:r>
              <a:rPr lang="en-US" altLang="en-US" sz="3600" dirty="0">
                <a:latin typeface="Symbol" panose="05050102010706020507" pitchFamily="18" charset="2"/>
              </a:rPr>
              <a:t>W</a:t>
            </a:r>
            <a:r>
              <a:rPr lang="en-US" altLang="en-US" sz="3600" dirty="0"/>
              <a:t>, </a:t>
            </a:r>
            <a:r>
              <a:rPr lang="en-US" altLang="en-US" sz="3600" i="1" dirty="0"/>
              <a:t>O</a:t>
            </a:r>
            <a:endParaRPr lang="en-US" altLang="en-US" sz="3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8339" name="Rectangle 3">
            <a:extLst>
              <a:ext uri="{FF2B5EF4-FFF2-40B4-BE49-F238E27FC236}">
                <a16:creationId xmlns:a16="http://schemas.microsoft.com/office/drawing/2014/main" id="{776E13C5-AC57-4F45-9160-4717AC0E2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2897188"/>
            <a:ext cx="8458200" cy="2857500"/>
          </a:xfrm>
        </p:spPr>
        <p:txBody>
          <a:bodyPr/>
          <a:lstStyle/>
          <a:p>
            <a:pPr>
              <a:spcBef>
                <a:spcPct val="100000"/>
              </a:spcBef>
            </a:pPr>
            <a:r>
              <a:rPr lang="en-US" altLang="en-US" sz="3000" dirty="0">
                <a:sym typeface="Symbol" panose="05050102010706020507" pitchFamily="18" charset="2"/>
              </a:rPr>
              <a:t>I.e., </a:t>
            </a:r>
            <a:r>
              <a:rPr lang="en-US" altLang="en-US" sz="3000" dirty="0"/>
              <a:t>(</a:t>
            </a:r>
            <a:r>
              <a:rPr lang="en-US" altLang="en-US" sz="3000" i="1" dirty="0"/>
              <a:t>g</a:t>
            </a:r>
            <a:r>
              <a:rPr lang="en-US" altLang="en-US" sz="3000" dirty="0"/>
              <a:t>(</a:t>
            </a:r>
            <a:r>
              <a:rPr lang="en-US" altLang="en-US" sz="3000" i="1" dirty="0"/>
              <a:t>n</a:t>
            </a:r>
            <a:r>
              <a:rPr lang="en-US" altLang="en-US" sz="3000" dirty="0"/>
              <a:t>)) = </a:t>
            </a:r>
            <a:r>
              <a:rPr lang="en-US" altLang="en-US" sz="3000" i="1" dirty="0">
                <a:sym typeface="Symbol" panose="05050102010706020507" pitchFamily="18" charset="2"/>
              </a:rPr>
              <a:t>O</a:t>
            </a:r>
            <a:r>
              <a:rPr lang="en-US" altLang="en-US" sz="3000" dirty="0"/>
              <a:t>(</a:t>
            </a:r>
            <a:r>
              <a:rPr lang="en-US" altLang="en-US" sz="3000" i="1" dirty="0"/>
              <a:t>g</a:t>
            </a:r>
            <a:r>
              <a:rPr lang="en-US" altLang="en-US" sz="3000" dirty="0"/>
              <a:t>(</a:t>
            </a:r>
            <a:r>
              <a:rPr lang="en-US" altLang="en-US" sz="3000" i="1" dirty="0"/>
              <a:t>n</a:t>
            </a:r>
            <a:r>
              <a:rPr lang="en-US" altLang="en-US" sz="3000" dirty="0"/>
              <a:t>)) </a:t>
            </a:r>
            <a:r>
              <a:rPr lang="en-US" altLang="en-US" sz="3000" dirty="0">
                <a:latin typeface="Symbol" panose="05050102010706020507" pitchFamily="18" charset="2"/>
              </a:rPr>
              <a:t>Ç</a:t>
            </a:r>
            <a:r>
              <a:rPr lang="en-US" altLang="en-US" sz="3000" dirty="0"/>
              <a:t> </a:t>
            </a:r>
            <a:r>
              <a:rPr lang="en-US" altLang="en-US" sz="3000" dirty="0">
                <a:latin typeface="Symbol" panose="05050102010706020507" pitchFamily="18" charset="2"/>
                <a:sym typeface="Symbol" panose="05050102010706020507" pitchFamily="18" charset="2"/>
              </a:rPr>
              <a:t>W</a:t>
            </a:r>
            <a:r>
              <a:rPr lang="en-US" altLang="en-US" sz="3000" dirty="0"/>
              <a:t>(</a:t>
            </a:r>
            <a:r>
              <a:rPr lang="en-US" altLang="en-US" sz="3000" i="1" dirty="0"/>
              <a:t>g</a:t>
            </a:r>
            <a:r>
              <a:rPr lang="en-US" altLang="en-US" sz="3000" dirty="0"/>
              <a:t>(</a:t>
            </a:r>
            <a:r>
              <a:rPr lang="en-US" altLang="en-US" sz="3000" i="1" dirty="0"/>
              <a:t>n</a:t>
            </a:r>
            <a:r>
              <a:rPr lang="en-US" altLang="en-US" sz="3000" dirty="0"/>
              <a:t>))</a:t>
            </a:r>
          </a:p>
          <a:p>
            <a:pPr>
              <a:spcBef>
                <a:spcPct val="100000"/>
              </a:spcBef>
            </a:pPr>
            <a:r>
              <a:rPr lang="en-US" altLang="en-US" sz="3000" dirty="0"/>
              <a:t>In practice, asymptotically tight bounds are obtained from asymptotic upper and lower bounds.</a:t>
            </a:r>
          </a:p>
        </p:txBody>
      </p:sp>
      <p:sp>
        <p:nvSpPr>
          <p:cNvPr id="398340" name="Text Box 4">
            <a:extLst>
              <a:ext uri="{FF2B5EF4-FFF2-40B4-BE49-F238E27FC236}">
                <a16:creationId xmlns:a16="http://schemas.microsoft.com/office/drawing/2014/main" id="{9409C380-5AD6-4305-A4E1-37B6C7E7D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3" y="1192213"/>
            <a:ext cx="7632700" cy="14287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r>
              <a:rPr lang="en-US" altLang="en-US" b="1" u="sng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Theorem :</a:t>
            </a:r>
            <a:r>
              <a:rPr lang="en-US" altLang="en-US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 any two functions </a:t>
            </a:r>
            <a:r>
              <a:rPr lang="en-US" altLang="en-US" i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altLang="en-US" i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br>
              <a:rPr lang="en-US" altLang="en-US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en-US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b="1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en-US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err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iff</a:t>
            </a:r>
            <a:r>
              <a:rPr lang="en-US" altLang="en-US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 and </a:t>
            </a:r>
            <a:r>
              <a:rPr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b="1" i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b="1" dirty="0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altLang="en-US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solidFill>
                <a:schemeClr val="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16</a:t>
            </a:fld>
            <a:endParaRPr lang="en-US" altLang="zh-TW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51F3E0F-E7C0-452E-A958-2DF02E61341F}" type="slidenum">
              <a:rPr lang="en-US" altLang="en-US" sz="1400">
                <a:latin typeface="Arial Narrow" panose="020B0606020202030204" pitchFamily="34" charset="0"/>
              </a:rPr>
              <a:pPr/>
              <a:t>17</a:t>
            </a:fld>
            <a:endParaRPr lang="en-US" altLang="en-US" sz="1400">
              <a:latin typeface="Arial Narrow" panose="020B0606020202030204" pitchFamily="34" charset="0"/>
            </a:endParaRPr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24000"/>
            <a:ext cx="730567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8600"/>
            <a:ext cx="23431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" name="Rounded Rectangle 1"/>
          <p:cNvSpPr/>
          <p:nvPr/>
        </p:nvSpPr>
        <p:spPr bwMode="auto">
          <a:xfrm>
            <a:off x="4724400" y="2209800"/>
            <a:ext cx="1905000" cy="457200"/>
          </a:xfrm>
          <a:prstGeom prst="round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6043613" y="2209800"/>
            <a:ext cx="1905000" cy="457200"/>
          </a:xfrm>
          <a:prstGeom prst="round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53000" y="2510135"/>
            <a:ext cx="6703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l-GR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Ω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84087" y="2510135"/>
            <a:ext cx="6703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303305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 animBg="1"/>
      <p:bldP spid="3" grpId="0"/>
      <p:bldP spid="3" grpId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667000" y="6356350"/>
            <a:ext cx="3352800" cy="365125"/>
          </a:xfrm>
        </p:spPr>
        <p:txBody>
          <a:bodyPr/>
          <a:lstStyle/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fld id="{4EB8CF64-C9F0-4F14-99B2-C0AB199CFDFF}" type="slidenum">
              <a:rPr lang="en-US" altLang="en-US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rPr>
              <a:pPr algn="l" fontAlgn="auto">
                <a:spcBef>
                  <a:spcPts val="0"/>
                </a:spcBef>
                <a:spcAft>
                  <a:spcPts val="0"/>
                </a:spcAft>
                <a:defRPr/>
              </a:pPr>
              <a:t>18</a:t>
            </a:fld>
            <a:endParaRPr lang="en-US" altLang="en-US">
              <a:solidFill>
                <a:schemeClr val="tx2">
                  <a:shade val="90000"/>
                </a:schemeClr>
              </a:solidFill>
              <a:latin typeface="+mn-lt"/>
              <a:cs typeface="+mn-cs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Asymptotic Notation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lnSpc>
                <a:spcPct val="180000"/>
              </a:lnSpc>
            </a:pPr>
            <a:r>
              <a:rPr lang="en-US" altLang="en-US" dirty="0"/>
              <a:t>O notation: asymptotic “less than”: 		</a:t>
            </a:r>
          </a:p>
          <a:p>
            <a:pPr marL="914400" lvl="1" indent="-457200">
              <a:lnSpc>
                <a:spcPct val="180000"/>
              </a:lnSpc>
            </a:pPr>
            <a:r>
              <a:rPr lang="en-US" altLang="en-US" dirty="0"/>
              <a:t>f(n)=O(g(n)) implies:  f(n) “</a:t>
            </a:r>
            <a:r>
              <a:rPr lang="en-US" altLang="en-US" dirty="0">
                <a:cs typeface="Arial" panose="020B0604020202020204" pitchFamily="34" charset="0"/>
              </a:rPr>
              <a:t>≤</a:t>
            </a:r>
            <a:r>
              <a:rPr lang="en-US" altLang="en-US" dirty="0"/>
              <a:t>” g(n)</a:t>
            </a:r>
          </a:p>
          <a:p>
            <a:pPr marL="533400" indent="-533400">
              <a:lnSpc>
                <a:spcPct val="180000"/>
              </a:lnSpc>
            </a:pPr>
            <a:r>
              <a:rPr lang="en-US" altLang="en-US" dirty="0">
                <a:sym typeface="Symbol" panose="05050102010706020507" pitchFamily="18" charset="2"/>
              </a:rPr>
              <a:t> notation: asymptotic “greater than”: 	</a:t>
            </a:r>
          </a:p>
          <a:p>
            <a:pPr marL="914400" lvl="1" indent="-457200">
              <a:lnSpc>
                <a:spcPct val="180000"/>
              </a:lnSpc>
            </a:pPr>
            <a:r>
              <a:rPr lang="en-US" altLang="en-US" dirty="0"/>
              <a:t>f(n)= </a:t>
            </a:r>
            <a:r>
              <a:rPr lang="en-US" altLang="en-US" dirty="0">
                <a:sym typeface="Symbol" panose="05050102010706020507" pitchFamily="18" charset="2"/>
              </a:rPr>
              <a:t></a:t>
            </a:r>
            <a:r>
              <a:rPr lang="en-US" altLang="en-US" dirty="0"/>
              <a:t> (g(n)) implies: f(n) “</a:t>
            </a:r>
            <a:r>
              <a:rPr lang="en-US" altLang="en-US" dirty="0">
                <a:cs typeface="Arial" panose="020B0604020202020204" pitchFamily="34" charset="0"/>
              </a:rPr>
              <a:t>≥</a:t>
            </a:r>
            <a:r>
              <a:rPr lang="en-US" altLang="en-US" dirty="0"/>
              <a:t>” g(n)</a:t>
            </a:r>
          </a:p>
          <a:p>
            <a:pPr marL="533400" indent="-533400">
              <a:lnSpc>
                <a:spcPct val="180000"/>
              </a:lnSpc>
            </a:pPr>
            <a:r>
              <a:rPr lang="en-US" altLang="en-US" dirty="0">
                <a:sym typeface="Symbol" panose="05050102010706020507" pitchFamily="18" charset="2"/>
              </a:rPr>
              <a:t> notation: asymptotic “equality”: 		</a:t>
            </a:r>
          </a:p>
          <a:p>
            <a:pPr marL="914400" lvl="1" indent="-457200">
              <a:lnSpc>
                <a:spcPct val="180000"/>
              </a:lnSpc>
            </a:pPr>
            <a:r>
              <a:rPr lang="en-US" altLang="en-US" dirty="0"/>
              <a:t>f(n)= </a:t>
            </a:r>
            <a:r>
              <a:rPr lang="en-US" altLang="en-US" dirty="0">
                <a:sym typeface="Symbol" panose="05050102010706020507" pitchFamily="18" charset="2"/>
              </a:rPr>
              <a:t></a:t>
            </a:r>
            <a:r>
              <a:rPr lang="en-US" altLang="en-US" dirty="0"/>
              <a:t> (g(n)) implies: </a:t>
            </a:r>
            <a:r>
              <a:rPr lang="en-US" altLang="en-US" dirty="0">
                <a:sym typeface="Symbol" panose="05050102010706020507" pitchFamily="18" charset="2"/>
              </a:rPr>
              <a:t>f(n) “=” g(n)</a:t>
            </a:r>
          </a:p>
        </p:txBody>
      </p:sp>
    </p:spTree>
    <p:extLst>
      <p:ext uri="{BB962C8B-B14F-4D97-AF65-F5344CB8AC3E}">
        <p14:creationId xmlns:p14="http://schemas.microsoft.com/office/powerpoint/2010/main" val="61491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153400" cy="4525963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=&gt; (3n+2)=</a:t>
            </a:r>
            <a:r>
              <a:rPr lang="en-US" altLang="en-US" sz="2400" i="1" dirty="0"/>
              <a:t>Ω</a:t>
            </a:r>
            <a:r>
              <a:rPr lang="en-US" altLang="en-US" dirty="0"/>
              <a:t> (n</a:t>
            </a:r>
            <a:r>
              <a:rPr lang="en-US" altLang="en-US" baseline="30000" dirty="0"/>
              <a:t>2</a:t>
            </a:r>
            <a:r>
              <a:rPr lang="en-US" altLang="en-US" dirty="0"/>
              <a:t>) ?????</a:t>
            </a:r>
          </a:p>
          <a:p>
            <a:pPr lvl="2"/>
            <a:r>
              <a:rPr lang="en-US" altLang="en-US" b="1" dirty="0"/>
              <a:t>No</a:t>
            </a:r>
            <a:endParaRPr lang="en-US" altLang="en-US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 =&gt; f(n)=</a:t>
            </a:r>
            <a:r>
              <a:rPr lang="en-US" altLang="en-US" sz="2800" i="1" dirty="0"/>
              <a:t> Ω</a:t>
            </a:r>
            <a:r>
              <a:rPr lang="en-US" altLang="en-US" dirty="0"/>
              <a:t> (n)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 if f(n) is lower bounded by ‘n’ then it can be lower bounded by any g(n) which is lower bounded by ‘n’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 err="1"/>
              <a:t>i</a:t>
            </a:r>
            <a:r>
              <a:rPr lang="en-US" altLang="en-US" dirty="0"/>
              <a:t>-e (3n+2)=</a:t>
            </a:r>
            <a:r>
              <a:rPr lang="en-US" altLang="en-US" sz="2400" i="1" dirty="0"/>
              <a:t>Ω</a:t>
            </a:r>
            <a:r>
              <a:rPr lang="en-US" altLang="en-US" dirty="0"/>
              <a:t> (</a:t>
            </a:r>
            <a:r>
              <a:rPr lang="en-US" altLang="en-US" dirty="0" err="1"/>
              <a:t>logn</a:t>
            </a:r>
            <a:r>
              <a:rPr lang="en-US" altLang="en-US" dirty="0"/>
              <a:t>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	  (3n+2)=</a:t>
            </a:r>
            <a:r>
              <a:rPr lang="en-US" altLang="en-US" sz="2400" i="1" dirty="0"/>
              <a:t>Ω</a:t>
            </a:r>
            <a:r>
              <a:rPr lang="en-US" altLang="en-US" dirty="0"/>
              <a:t> (log (log (n)))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But we always go for the closest lower bound or tighter lower bound</a:t>
            </a:r>
          </a:p>
          <a:p>
            <a:pPr>
              <a:buFont typeface="Wingdings 2" panose="05020102010507070707" pitchFamily="18" charset="2"/>
              <a:buNone/>
            </a:pP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97A07-E1E5-468F-B2EC-DBAAD238E8F0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19362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153400" cy="4525963"/>
          </a:xfrm>
        </p:spPr>
        <p:txBody>
          <a:bodyPr/>
          <a:lstStyle/>
          <a:p>
            <a:r>
              <a:rPr lang="en-US" altLang="en-US" dirty="0"/>
              <a:t>If (3n+2)=O(n)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 =&gt; (3n+2)=O (n</a:t>
            </a:r>
            <a:r>
              <a:rPr lang="en-US" altLang="en-US" baseline="30000" dirty="0"/>
              <a:t>2</a:t>
            </a:r>
            <a:r>
              <a:rPr lang="en-US" altLang="en-US" dirty="0"/>
              <a:t>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 =&gt; (3n+2)=O (n</a:t>
            </a:r>
            <a:r>
              <a:rPr lang="en-US" altLang="en-US" baseline="30000" dirty="0"/>
              <a:t>3</a:t>
            </a:r>
            <a:r>
              <a:rPr lang="en-US" altLang="en-US" dirty="0"/>
              <a:t>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 =&gt; (3n+2)=O (n</a:t>
            </a:r>
            <a:r>
              <a:rPr lang="en-US" altLang="en-US" baseline="30000" dirty="0"/>
              <a:t>4</a:t>
            </a:r>
            <a:r>
              <a:rPr lang="en-US" altLang="en-US" dirty="0"/>
              <a:t>) so on…</a:t>
            </a:r>
          </a:p>
          <a:p>
            <a:pPr>
              <a:buFont typeface="Wingdings 2" panose="05020102010507070707" pitchFamily="18" charset="2"/>
              <a:buNone/>
            </a:pPr>
            <a:endParaRPr lang="en-US" altLang="en-US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But we always go for the least upper bound or tighter upper bound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97A07-E1E5-468F-B2EC-DBAAD238E8F0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79094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altLang="en-US"/>
              <a:t>3n+2=</a:t>
            </a:r>
            <a:r>
              <a:rPr lang="en-US" altLang="en-US" i="1"/>
              <a:t>Θ(n)</a:t>
            </a:r>
            <a:endParaRPr lang="en-US" altLang="en-US"/>
          </a:p>
          <a:p>
            <a:r>
              <a:rPr lang="en-US" altLang="en-US"/>
              <a:t>3n</a:t>
            </a:r>
            <a:r>
              <a:rPr lang="en-US" altLang="en-US" baseline="30000"/>
              <a:t>2</a:t>
            </a:r>
            <a:r>
              <a:rPr lang="en-US" altLang="en-US"/>
              <a:t>+2n+1=</a:t>
            </a:r>
            <a:r>
              <a:rPr lang="en-US" altLang="en-US" i="1"/>
              <a:t>Θ(n</a:t>
            </a:r>
            <a:r>
              <a:rPr lang="en-US" altLang="en-US" i="1" baseline="30000"/>
              <a:t>2</a:t>
            </a:r>
            <a:r>
              <a:rPr lang="en-US" altLang="en-US" i="1"/>
              <a:t>)</a:t>
            </a:r>
          </a:p>
          <a:p>
            <a:r>
              <a:rPr lang="en-US" altLang="en-US"/>
              <a:t>6n</a:t>
            </a:r>
            <a:r>
              <a:rPr lang="en-US" altLang="en-US" baseline="30000"/>
              <a:t>3</a:t>
            </a:r>
            <a:r>
              <a:rPr lang="en-US" altLang="en-US"/>
              <a:t>+n</a:t>
            </a:r>
            <a:r>
              <a:rPr lang="en-US" altLang="en-US" i="1" baseline="30000"/>
              <a:t>2</a:t>
            </a:r>
            <a:r>
              <a:rPr lang="en-US" altLang="en-US"/>
              <a:t>=</a:t>
            </a:r>
            <a:r>
              <a:rPr lang="en-US" altLang="en-US" i="1"/>
              <a:t>Θ(n</a:t>
            </a:r>
            <a:r>
              <a:rPr lang="en-US" altLang="en-US" i="1" baseline="30000"/>
              <a:t>3</a:t>
            </a:r>
            <a:r>
              <a:rPr lang="en-US" altLang="en-US" i="1"/>
              <a:t>)</a:t>
            </a:r>
            <a:endParaRPr lang="en-US" altLang="en-US"/>
          </a:p>
          <a:p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97A07-E1E5-468F-B2EC-DBAAD238E8F0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20562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0F682E5-535E-45A3-98E1-074EFAF6B6C9}" type="slidenum">
              <a:rPr lang="en-US" altLang="en-US" sz="1400">
                <a:latin typeface="Arial Narrow" panose="020B0606020202030204" pitchFamily="34" charset="0"/>
              </a:rPr>
              <a:pPr/>
              <a:t>22</a:t>
            </a:fld>
            <a:endParaRPr lang="en-US" altLang="en-US" sz="1400">
              <a:latin typeface="Arial Narrow" panose="020B0606020202030204" pitchFamily="34" charset="0"/>
            </a:endParaRP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1357313"/>
            <a:ext cx="7562850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8600"/>
            <a:ext cx="51244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535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Examples of algorithms 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Here is a list of common asymptotic running times:</a:t>
            </a:r>
          </a:p>
          <a:p>
            <a:r>
              <a:rPr lang="en-US" altLang="en-US" sz="2400" dirty="0"/>
              <a:t>Θ(1): Constant time; can’t beat it!</a:t>
            </a:r>
          </a:p>
          <a:p>
            <a:r>
              <a:rPr lang="en-US" altLang="en-US" sz="2400" dirty="0"/>
              <a:t>Θ(log n): Inserting into a balanced binary tree; time to ﬁnd an item in a sorted array of length n using binary search.</a:t>
            </a:r>
          </a:p>
          <a:p>
            <a:r>
              <a:rPr lang="en-US" altLang="en-US" sz="2400" dirty="0"/>
              <a:t> Θ(n): About the fastest that an algorithm can run.</a:t>
            </a:r>
          </a:p>
          <a:p>
            <a:r>
              <a:rPr lang="en-US" altLang="en-US" sz="2400" dirty="0"/>
              <a:t>Θ(n log n): Best sorting algorithms.</a:t>
            </a:r>
          </a:p>
          <a:p>
            <a:r>
              <a:rPr lang="en-US" altLang="en-US" sz="2400" dirty="0"/>
              <a:t>Θ(n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), Θ(n</a:t>
            </a:r>
            <a:r>
              <a:rPr lang="en-US" altLang="en-US" sz="2400" baseline="30000" dirty="0"/>
              <a:t>3</a:t>
            </a:r>
            <a:r>
              <a:rPr lang="en-US" altLang="en-US" sz="2400" dirty="0"/>
              <a:t>): Polynomial time. These running times are acceptable when the exponent of n </a:t>
            </a:r>
            <a:r>
              <a:rPr lang="en-US" altLang="en-US" sz="2400" dirty="0" err="1"/>
              <a:t>issmall</a:t>
            </a:r>
            <a:r>
              <a:rPr lang="en-US" altLang="en-US" sz="2400" dirty="0"/>
              <a:t> or n is not to large, e.g., n ≤ 1000.</a:t>
            </a:r>
          </a:p>
          <a:p>
            <a:r>
              <a:rPr lang="en-US" altLang="en-US" sz="2400" dirty="0"/>
              <a:t>Θ(2</a:t>
            </a:r>
            <a:r>
              <a:rPr lang="en-US" altLang="en-US" sz="2400" baseline="30000" dirty="0"/>
              <a:t>n</a:t>
            </a:r>
            <a:r>
              <a:rPr lang="en-US" altLang="en-US" sz="2400" dirty="0"/>
              <a:t>), Θ(3</a:t>
            </a:r>
            <a:r>
              <a:rPr lang="en-US" altLang="en-US" sz="2400" baseline="30000" dirty="0"/>
              <a:t>n</a:t>
            </a:r>
            <a:r>
              <a:rPr lang="en-US" altLang="en-US" sz="2400" dirty="0"/>
              <a:t>): Exponential time. Acceptable only if n is small, e.g., n ≤ 50.</a:t>
            </a:r>
          </a:p>
          <a:p>
            <a:r>
              <a:rPr lang="en-US" altLang="en-US" sz="2400" dirty="0"/>
              <a:t>Θ(n!) : Acceptable only for really small n, e.g. n ≤ 20.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23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4849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Best worst and average time complexity 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case: The algorithm take as min time as it can.</a:t>
            </a:r>
          </a:p>
          <a:p>
            <a:pPr lvl="1"/>
            <a:r>
              <a:rPr lang="en-US" dirty="0"/>
              <a:t>Searching item in array </a:t>
            </a:r>
          </a:p>
          <a:p>
            <a:pPr lvl="1"/>
            <a:r>
              <a:rPr lang="en-US" dirty="0"/>
              <a:t>Found first item as key</a:t>
            </a:r>
          </a:p>
          <a:p>
            <a:r>
              <a:rPr lang="en-US" dirty="0"/>
              <a:t>Worst case: The algorithm take max time as it can</a:t>
            </a:r>
          </a:p>
          <a:p>
            <a:pPr lvl="1"/>
            <a:r>
              <a:rPr lang="en-US" dirty="0"/>
              <a:t>Searching item in array</a:t>
            </a:r>
          </a:p>
          <a:p>
            <a:pPr lvl="1"/>
            <a:r>
              <a:rPr lang="en-US" dirty="0"/>
              <a:t>Found the last item/ did not found item</a:t>
            </a:r>
          </a:p>
          <a:p>
            <a:r>
              <a:rPr lang="en-US" dirty="0"/>
              <a:t>Average case: The algorithm takes average time</a:t>
            </a:r>
          </a:p>
          <a:p>
            <a:pPr lvl="1"/>
            <a:r>
              <a:rPr lang="en-US" dirty="0"/>
              <a:t>Found in middle of array (Just example)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24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2114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Ο and Ω notations do only describe the bounds of a function that describes the asymptotic behavior of the actual behavior of the algorithm. Here’s an example </a:t>
            </a:r>
          </a:p>
          <a:p>
            <a:pPr lvl="1"/>
            <a:r>
              <a:rPr lang="en-US" sz="2000" dirty="0"/>
              <a:t>Ω describes the </a:t>
            </a:r>
            <a:r>
              <a:rPr lang="en-US" sz="2000" b="1" dirty="0"/>
              <a:t>lower bound</a:t>
            </a:r>
            <a:r>
              <a:rPr lang="en-US" sz="2000" dirty="0"/>
              <a:t>:</a:t>
            </a:r>
          </a:p>
          <a:p>
            <a:pPr lvl="2"/>
            <a:r>
              <a:rPr lang="en-US" sz="2000" dirty="0"/>
              <a:t> f(</a:t>
            </a:r>
            <a:r>
              <a:rPr lang="en-US" sz="2000" i="1" dirty="0"/>
              <a:t>n</a:t>
            </a:r>
            <a:r>
              <a:rPr lang="en-US" sz="2000" dirty="0"/>
              <a:t>) ∈ Ω(g(</a:t>
            </a:r>
            <a:r>
              <a:rPr lang="en-US" sz="2000" i="1" dirty="0"/>
              <a:t>n</a:t>
            </a:r>
            <a:r>
              <a:rPr lang="en-US" sz="2000" dirty="0"/>
              <a:t>)) means the asymptotic behavior of f(</a:t>
            </a:r>
            <a:r>
              <a:rPr lang="en-US" sz="2000" i="1" dirty="0"/>
              <a:t>n</a:t>
            </a:r>
            <a:r>
              <a:rPr lang="en-US" sz="2000" dirty="0"/>
              <a:t>) is </a:t>
            </a:r>
            <a:r>
              <a:rPr lang="en-US" sz="2000" b="1" dirty="0"/>
              <a:t>not less than</a:t>
            </a:r>
            <a:r>
              <a:rPr lang="en-US" sz="2000" dirty="0"/>
              <a:t> g(</a:t>
            </a:r>
            <a:r>
              <a:rPr lang="en-US" sz="2000" i="1" dirty="0"/>
              <a:t>n</a:t>
            </a:r>
            <a:r>
              <a:rPr lang="en-US" sz="2000" dirty="0"/>
              <a:t>)·</a:t>
            </a:r>
            <a:r>
              <a:rPr lang="en-US" sz="2000" i="1" dirty="0"/>
              <a:t>k</a:t>
            </a:r>
            <a:r>
              <a:rPr lang="en-US" sz="2000" dirty="0"/>
              <a:t> for some positive </a:t>
            </a:r>
            <a:r>
              <a:rPr lang="en-US" sz="2000" i="1" dirty="0"/>
              <a:t>k</a:t>
            </a:r>
            <a:r>
              <a:rPr lang="en-US" sz="2000" dirty="0"/>
              <a:t>, so f(</a:t>
            </a:r>
            <a:r>
              <a:rPr lang="en-US" sz="2000" i="1" dirty="0"/>
              <a:t>n</a:t>
            </a:r>
            <a:r>
              <a:rPr lang="en-US" sz="2000" dirty="0"/>
              <a:t>) is </a:t>
            </a:r>
            <a:r>
              <a:rPr lang="en-US" sz="2000" b="1" dirty="0"/>
              <a:t>always at least as much as</a:t>
            </a:r>
            <a:r>
              <a:rPr lang="en-US" sz="2000" dirty="0"/>
              <a:t> g(</a:t>
            </a:r>
            <a:r>
              <a:rPr lang="en-US" sz="2000" i="1" dirty="0"/>
              <a:t>n</a:t>
            </a:r>
            <a:r>
              <a:rPr lang="en-US" sz="2000" dirty="0"/>
              <a:t>)·</a:t>
            </a:r>
            <a:r>
              <a:rPr lang="en-US" sz="2000" i="1" dirty="0"/>
              <a:t>k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Ο describes the </a:t>
            </a:r>
            <a:r>
              <a:rPr lang="en-US" sz="2000" b="1" dirty="0"/>
              <a:t>upper bound</a:t>
            </a:r>
            <a:r>
              <a:rPr lang="en-US" sz="2000" dirty="0"/>
              <a:t>: </a:t>
            </a:r>
          </a:p>
          <a:p>
            <a:pPr lvl="2"/>
            <a:r>
              <a:rPr lang="en-US" sz="2000" dirty="0"/>
              <a:t>f(</a:t>
            </a:r>
            <a:r>
              <a:rPr lang="en-US" sz="2000" i="1" dirty="0"/>
              <a:t>n</a:t>
            </a:r>
            <a:r>
              <a:rPr lang="en-US" sz="2000" dirty="0"/>
              <a:t>) ∈ Ο(g(</a:t>
            </a:r>
            <a:r>
              <a:rPr lang="en-US" sz="2000" i="1" dirty="0"/>
              <a:t>n</a:t>
            </a:r>
            <a:r>
              <a:rPr lang="en-US" sz="2000" dirty="0"/>
              <a:t>)) means the asymptotic behavior of f(</a:t>
            </a:r>
            <a:r>
              <a:rPr lang="en-US" sz="2000" i="1" dirty="0"/>
              <a:t>n</a:t>
            </a:r>
            <a:r>
              <a:rPr lang="en-US" sz="2000" dirty="0"/>
              <a:t>) is </a:t>
            </a:r>
            <a:r>
              <a:rPr lang="en-US" sz="2000" b="1" dirty="0"/>
              <a:t>not more than</a:t>
            </a:r>
            <a:r>
              <a:rPr lang="en-US" sz="2000" dirty="0"/>
              <a:t> g(</a:t>
            </a:r>
            <a:r>
              <a:rPr lang="en-US" sz="2000" i="1" dirty="0"/>
              <a:t>n</a:t>
            </a:r>
            <a:r>
              <a:rPr lang="en-US" sz="2000" dirty="0"/>
              <a:t>)·</a:t>
            </a:r>
            <a:r>
              <a:rPr lang="en-US" sz="2000" i="1" dirty="0"/>
              <a:t>k</a:t>
            </a:r>
            <a:r>
              <a:rPr lang="en-US" sz="2000" dirty="0"/>
              <a:t> for some positive </a:t>
            </a:r>
            <a:r>
              <a:rPr lang="en-US" sz="2000" i="1" dirty="0"/>
              <a:t>k</a:t>
            </a:r>
            <a:r>
              <a:rPr lang="en-US" sz="2000" dirty="0"/>
              <a:t>, so f(</a:t>
            </a:r>
            <a:r>
              <a:rPr lang="en-US" sz="2000" i="1" dirty="0"/>
              <a:t>n</a:t>
            </a:r>
            <a:r>
              <a:rPr lang="en-US" sz="2000" dirty="0"/>
              <a:t>) is </a:t>
            </a:r>
            <a:r>
              <a:rPr lang="en-US" sz="2000" b="1" dirty="0"/>
              <a:t>always at most as much as</a:t>
            </a:r>
            <a:r>
              <a:rPr lang="en-US" sz="2000" dirty="0"/>
              <a:t> g(</a:t>
            </a:r>
            <a:r>
              <a:rPr lang="en-US" sz="2000" i="1" dirty="0"/>
              <a:t>n</a:t>
            </a:r>
            <a:r>
              <a:rPr lang="en-US" sz="2000" dirty="0"/>
              <a:t>)·</a:t>
            </a:r>
            <a:r>
              <a:rPr lang="en-US" sz="2000" i="1" dirty="0"/>
              <a:t>k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/>
              <a:t>What is the relationship between Big O, Θ, Ω and best, worst, and average case of an algorithm?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FCD075-1F00-4C75-B97C-C7A5D7496F76}"/>
              </a:ext>
            </a:extLst>
          </p:cNvPr>
          <p:cNvSpPr/>
          <p:nvPr/>
        </p:nvSpPr>
        <p:spPr>
          <a:xfrm>
            <a:off x="1905000" y="502920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en-US" dirty="0"/>
              <a:t>We are usually interested in the </a:t>
            </a:r>
            <a:r>
              <a:rPr lang="en-US" altLang="en-US" b="1" dirty="0"/>
              <a:t>worst case </a:t>
            </a:r>
            <a:r>
              <a:rPr lang="en-US" altLang="en-US" dirty="0"/>
              <a:t>complexity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25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0916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Best worst average vs Notations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two can be applied on both the best case and the worst case for binary search:</a:t>
            </a:r>
          </a:p>
          <a:p>
            <a:r>
              <a:rPr lang="en-US" dirty="0"/>
              <a:t>best case: first element you look at is the one you are looking for</a:t>
            </a:r>
          </a:p>
          <a:p>
            <a:pPr lvl="1"/>
            <a:r>
              <a:rPr lang="en-US" dirty="0"/>
              <a:t>Ω(1): you need </a:t>
            </a:r>
            <a:r>
              <a:rPr lang="en-US" i="1" dirty="0"/>
              <a:t>at least</a:t>
            </a:r>
            <a:r>
              <a:rPr lang="en-US" dirty="0"/>
              <a:t> one lookup</a:t>
            </a:r>
          </a:p>
          <a:p>
            <a:pPr lvl="1"/>
            <a:r>
              <a:rPr lang="en-US" dirty="0"/>
              <a:t>Ο(1): you need </a:t>
            </a:r>
            <a:r>
              <a:rPr lang="en-US" i="1" dirty="0"/>
              <a:t>at most</a:t>
            </a:r>
            <a:r>
              <a:rPr lang="en-US" dirty="0"/>
              <a:t> one lookup</a:t>
            </a:r>
          </a:p>
          <a:p>
            <a:r>
              <a:rPr lang="en-US" dirty="0"/>
              <a:t>worst case: element is not present</a:t>
            </a:r>
          </a:p>
          <a:p>
            <a:pPr lvl="1"/>
            <a:r>
              <a:rPr lang="en-US" dirty="0"/>
              <a:t>Ω(log </a:t>
            </a:r>
            <a:r>
              <a:rPr lang="en-US" i="1" dirty="0"/>
              <a:t>n</a:t>
            </a:r>
            <a:r>
              <a:rPr lang="en-US" dirty="0"/>
              <a:t>): you need </a:t>
            </a:r>
            <a:r>
              <a:rPr lang="en-US" i="1" dirty="0"/>
              <a:t>at least</a:t>
            </a:r>
            <a:r>
              <a:rPr lang="en-US" dirty="0"/>
              <a:t> log </a:t>
            </a:r>
            <a:r>
              <a:rPr lang="en-US" i="1" dirty="0"/>
              <a:t>n</a:t>
            </a:r>
            <a:r>
              <a:rPr lang="en-US" dirty="0"/>
              <a:t> steps until you can say that the element you are looking for is not present</a:t>
            </a:r>
          </a:p>
          <a:p>
            <a:pPr lvl="1"/>
            <a:r>
              <a:rPr lang="en-US" dirty="0"/>
              <a:t>Ο(log </a:t>
            </a:r>
            <a:r>
              <a:rPr lang="en-US" i="1" dirty="0"/>
              <a:t>n</a:t>
            </a:r>
            <a:r>
              <a:rPr lang="en-US" dirty="0"/>
              <a:t>): you need </a:t>
            </a:r>
            <a:r>
              <a:rPr lang="en-US" i="1" dirty="0"/>
              <a:t>at most</a:t>
            </a:r>
            <a:r>
              <a:rPr lang="en-US" dirty="0"/>
              <a:t> log </a:t>
            </a:r>
            <a:r>
              <a:rPr lang="en-US" i="1" dirty="0"/>
              <a:t>n</a:t>
            </a:r>
            <a:r>
              <a:rPr lang="en-US" dirty="0"/>
              <a:t> steps until you can say that the element you are looking for is not present</a:t>
            </a:r>
          </a:p>
          <a:p>
            <a:r>
              <a:rPr lang="en-US" dirty="0">
                <a:solidFill>
                  <a:srgbClr val="FF0000"/>
                </a:solidFill>
              </a:rPr>
              <a:t>But often we do only want to know the upper bound or tight bound as the lower bound has not much practical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6324" y="2590800"/>
            <a:ext cx="4975786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Compare with finding max in array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26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7417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b="1">
                <a:ea typeface="新細明體" panose="02020500000000000000" pitchFamily="18" charset="-120"/>
              </a:rPr>
              <a:t>Estimating Running Time</a:t>
            </a:r>
          </a:p>
        </p:txBody>
      </p:sp>
      <p:sp>
        <p:nvSpPr>
          <p:cNvPr id="53252" name="Rectangle 3" descr="Rectangle: Click to edit Master text styles&#10;Second level&#10;Third level&#10;Fourth level&#10;Fifth level"/>
          <p:cNvSpPr>
            <a:spLocks noGrp="1"/>
          </p:cNvSpPr>
          <p:nvPr>
            <p:ph sz="quarter" idx="1"/>
          </p:nvPr>
        </p:nvSpPr>
        <p:spPr>
          <a:xfrm>
            <a:off x="609600" y="1752600"/>
            <a:ext cx="8305800" cy="4648200"/>
          </a:xfrm>
        </p:spPr>
        <p:txBody>
          <a:bodyPr/>
          <a:lstStyle/>
          <a:p>
            <a:pPr eaLnBrk="1" hangingPunct="1"/>
            <a:r>
              <a:rPr lang="en-US" altLang="zh-TW" dirty="0"/>
              <a:t>For example any Algorithm executes 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7</a:t>
            </a:r>
            <a:r>
              <a:rPr lang="en-US" altLang="zh-TW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 1 </a:t>
            </a:r>
            <a:r>
              <a:rPr lang="en-US" altLang="zh-TW" dirty="0"/>
              <a:t>primitive operations in the worst case.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dirty="0"/>
              <a:t>   Define:</a:t>
            </a:r>
          </a:p>
          <a:p>
            <a:pPr lvl="1" eaLnBrk="1" hangingPunct="1">
              <a:buSzTx/>
              <a:buFont typeface="Times New Roman" panose="02020603050405020304" pitchFamily="18" charset="0"/>
              <a:buNone/>
            </a:pPr>
            <a:r>
              <a:rPr lang="en-US" altLang="zh-TW" b="1" i="1" dirty="0">
                <a:latin typeface="Times New Roman" panose="02020603050405020304" pitchFamily="18" charset="0"/>
              </a:rPr>
              <a:t>a</a:t>
            </a:r>
            <a:r>
              <a:rPr lang="en-US" altLang="zh-TW" dirty="0"/>
              <a:t>	= Time taken by the fastest primitive operation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TW" b="1" i="1" dirty="0">
                <a:latin typeface="Times New Roman" panose="02020603050405020304" pitchFamily="18" charset="0"/>
              </a:rPr>
              <a:t>b</a:t>
            </a:r>
            <a:r>
              <a:rPr lang="en-US" altLang="zh-TW" dirty="0"/>
              <a:t> 	= Time taken by the slowest primitive operation</a:t>
            </a:r>
          </a:p>
          <a:p>
            <a:pPr eaLnBrk="1" hangingPunct="1"/>
            <a:r>
              <a:rPr lang="en-US" altLang="zh-TW" dirty="0"/>
              <a:t>Let </a:t>
            </a:r>
            <a:r>
              <a:rPr lang="en-US" altLang="zh-TW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TW" dirty="0"/>
              <a:t> be worst-case time of </a:t>
            </a:r>
            <a:r>
              <a:rPr lang="en-US" altLang="zh-TW" b="1" i="1" dirty="0" err="1">
                <a:latin typeface="Times New Roman" panose="02020603050405020304" pitchFamily="18" charset="0"/>
              </a:rPr>
              <a:t>arrayMax</a:t>
            </a:r>
            <a:r>
              <a:rPr lang="en-US" altLang="zh-TW" b="1" i="1" dirty="0">
                <a:latin typeface="Times New Roman" panose="02020603050405020304" pitchFamily="18" charset="0"/>
              </a:rPr>
              <a:t>.</a:t>
            </a:r>
            <a:r>
              <a:rPr lang="en-US" altLang="zh-TW" b="1" dirty="0">
                <a:latin typeface="Times New Roman" panose="02020603050405020304" pitchFamily="18" charset="0"/>
              </a:rPr>
              <a:t> </a:t>
            </a:r>
            <a:r>
              <a:rPr lang="en-US" altLang="zh-TW" dirty="0"/>
              <a:t>Then</a:t>
            </a:r>
            <a:br>
              <a:rPr lang="en-US" altLang="zh-TW" dirty="0"/>
            </a:br>
            <a:r>
              <a:rPr lang="en-US" altLang="zh-TW" dirty="0"/>
              <a:t>		</a:t>
            </a:r>
            <a:r>
              <a:rPr lang="en-US" altLang="zh-TW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(7</a:t>
            </a:r>
            <a:r>
              <a:rPr lang="en-US" altLang="zh-TW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 1) </a:t>
            </a:r>
            <a:r>
              <a:rPr lang="en-US" altLang="zh-TW" dirty="0">
                <a:latin typeface="Symbol" panose="05050102010706020507" pitchFamily="18" charset="2"/>
                <a:sym typeface="Symbol" panose="05050102010706020507" pitchFamily="18" charset="2"/>
              </a:rPr>
              <a:t>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TW" dirty="0"/>
              <a:t> </a:t>
            </a:r>
            <a:r>
              <a:rPr lang="en-US" altLang="zh-TW" dirty="0">
                <a:latin typeface="Symbol" panose="05050102010706020507" pitchFamily="18" charset="2"/>
                <a:sym typeface="Symbol" panose="05050102010706020507" pitchFamily="18" charset="2"/>
              </a:rPr>
              <a:t></a:t>
            </a:r>
            <a:r>
              <a:rPr lang="en-US" altLang="zh-TW" dirty="0"/>
              <a:t> </a:t>
            </a:r>
            <a:r>
              <a:rPr lang="en-US" altLang="zh-TW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(7</a:t>
            </a:r>
            <a:r>
              <a:rPr lang="en-US" altLang="zh-TW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TW" dirty="0">
                <a:latin typeface="Symbol" panose="05050102010706020507" pitchFamily="18" charset="2"/>
                <a:sym typeface="Symbol" panose="05050102010706020507" pitchFamily="18" charset="2"/>
              </a:rPr>
              <a:t>+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 1 )</a:t>
            </a:r>
          </a:p>
          <a:p>
            <a:pPr eaLnBrk="1" hangingPunct="1"/>
            <a:r>
              <a:rPr lang="en-US" altLang="zh-TW" dirty="0"/>
              <a:t>Hence, the running time </a:t>
            </a:r>
            <a:r>
              <a:rPr lang="en-US" altLang="zh-TW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TW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TW" dirty="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TW" dirty="0"/>
              <a:t> is bounded by two linear functions</a:t>
            </a:r>
            <a:endParaRPr lang="en-US" altLang="zh-TW" dirty="0">
              <a:sym typeface="Symbol" panose="05050102010706020507" pitchFamily="18" charset="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1106-B3C8-457C-BE66-FB62641EC59E}" type="slidenum">
              <a:rPr lang="zh-TW" altLang="en-US" smtClean="0"/>
              <a:pPr/>
              <a:t>27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8782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Simple Example (1)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64770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1800"/>
              <a:t>// Input: int A[N], array of N integers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1800"/>
              <a:t>// Output: Sum of all numbers in array 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1800"/>
              <a:t>int Sum(int A[], int N)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1800"/>
              <a:t>{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GB" altLang="en-US" sz="1800"/>
              <a:t>   int s=0;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GB" altLang="en-US" sz="1800"/>
              <a:t>   for (int i=0; i&lt; N; i++)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GB" altLang="en-US" sz="1800"/>
              <a:t>      s = s + A[i];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GB" altLang="en-US" sz="1800"/>
              <a:t>   return s;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1800"/>
              <a:t>}</a:t>
            </a:r>
          </a:p>
          <a:p>
            <a:pPr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GB" altLang="en-US" sz="1800"/>
              <a:t>How should we analyse this?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28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5107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22337"/>
          </a:xfrm>
        </p:spPr>
        <p:txBody>
          <a:bodyPr/>
          <a:lstStyle/>
          <a:p>
            <a:r>
              <a:rPr lang="en-US" altLang="en-US"/>
              <a:t>Example of </a:t>
            </a:r>
            <a:r>
              <a:rPr lang="en-US" altLang="en-US" b="1"/>
              <a:t>Basic</a:t>
            </a:r>
            <a:r>
              <a:rPr lang="en-US" altLang="en-US"/>
              <a:t> Operations: 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57750"/>
          </a:xfrm>
        </p:spPr>
        <p:txBody>
          <a:bodyPr/>
          <a:lstStyle/>
          <a:p>
            <a:r>
              <a:rPr lang="en-US" altLang="en-US" sz="2000" dirty="0"/>
              <a:t>Arithmetic operations: *, /, %, +, -</a:t>
            </a:r>
          </a:p>
          <a:p>
            <a:r>
              <a:rPr lang="en-US" altLang="en-US" sz="2000" dirty="0"/>
              <a:t>Assignment statements</a:t>
            </a:r>
          </a:p>
          <a:p>
            <a:r>
              <a:rPr lang="en-US" altLang="en-US" sz="2000" dirty="0"/>
              <a:t>Simple conditional tests:        if (x &lt; 12) ...</a:t>
            </a:r>
          </a:p>
          <a:p>
            <a:r>
              <a:rPr lang="en-US" altLang="en-US" sz="2000" dirty="0"/>
              <a:t>method call (Note: the execution time of the method itself may depend on the value of parameter and it may not be constant)</a:t>
            </a:r>
          </a:p>
          <a:p>
            <a:r>
              <a:rPr lang="en-US" altLang="en-US" sz="2000" dirty="0"/>
              <a:t>a method's return statement</a:t>
            </a:r>
          </a:p>
          <a:p>
            <a:r>
              <a:rPr lang="en-US" altLang="en-US" sz="2000" dirty="0"/>
              <a:t>Memory Access</a:t>
            </a:r>
          </a:p>
          <a:p>
            <a:r>
              <a:rPr lang="en-US" altLang="en-US" sz="2000" dirty="0"/>
              <a:t>We consider an operation such as ++ , += , and *= as consisting of two basic operations.</a:t>
            </a:r>
          </a:p>
          <a:p>
            <a:r>
              <a:rPr lang="en-US" altLang="en-US" sz="2000" b="1" dirty="0"/>
              <a:t>Note</a:t>
            </a:r>
            <a:r>
              <a:rPr lang="en-US" altLang="en-US" sz="2000" dirty="0"/>
              <a:t>: To simplify complexity analysis we will not consider memory access (fetch or store) operations.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84010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altLang="en-US" sz="3200" dirty="0"/>
              <a:t>Simple Complexity Analysis: Loops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95400"/>
            <a:ext cx="8229600" cy="52562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2800" dirty="0"/>
              <a:t>We start by considering how to count operations in </a:t>
            </a:r>
            <a:r>
              <a:rPr lang="en-GB" altLang="en-US" sz="2800" b="1" dirty="0"/>
              <a:t>for</a:t>
            </a:r>
            <a:r>
              <a:rPr lang="en-GB" altLang="en-US" sz="2800" dirty="0"/>
              <a:t>-loops. </a:t>
            </a:r>
          </a:p>
          <a:p>
            <a:pPr lvl="1">
              <a:lnSpc>
                <a:spcPct val="90000"/>
              </a:lnSpc>
            </a:pPr>
            <a:r>
              <a:rPr lang="en-GB" altLang="en-US" sz="2400" dirty="0"/>
              <a:t>We use integer division throughout.</a:t>
            </a:r>
          </a:p>
          <a:p>
            <a:pPr>
              <a:lnSpc>
                <a:spcPct val="90000"/>
              </a:lnSpc>
            </a:pPr>
            <a:endParaRPr lang="en-GB" altLang="en-US" sz="2800" dirty="0"/>
          </a:p>
          <a:p>
            <a:pPr>
              <a:lnSpc>
                <a:spcPct val="90000"/>
              </a:lnSpc>
            </a:pPr>
            <a:r>
              <a:rPr lang="en-GB" altLang="en-US" sz="2800" dirty="0"/>
              <a:t>First of all, we should know the number of iterations of the loop; say it is </a:t>
            </a:r>
            <a:r>
              <a:rPr lang="en-GB" altLang="en-US" sz="2800" b="1" dirty="0"/>
              <a:t>x</a:t>
            </a:r>
            <a:r>
              <a:rPr lang="en-GB" altLang="en-US" sz="2800" dirty="0"/>
              <a:t>. </a:t>
            </a:r>
          </a:p>
          <a:p>
            <a:pPr lvl="1">
              <a:lnSpc>
                <a:spcPct val="90000"/>
              </a:lnSpc>
            </a:pPr>
            <a:r>
              <a:rPr lang="en-GB" altLang="en-US" sz="2400" dirty="0"/>
              <a:t>Then the loop condition is executed </a:t>
            </a:r>
            <a:r>
              <a:rPr lang="en-GB" altLang="en-US" sz="2400" b="1" dirty="0"/>
              <a:t>x + 1</a:t>
            </a:r>
            <a:r>
              <a:rPr lang="en-GB" altLang="en-US" sz="2400" dirty="0"/>
              <a:t> times.</a:t>
            </a:r>
          </a:p>
          <a:p>
            <a:pPr lvl="1">
              <a:lnSpc>
                <a:spcPct val="90000"/>
              </a:lnSpc>
            </a:pPr>
            <a:endParaRPr lang="en-GB" altLang="en-US" sz="2400" dirty="0"/>
          </a:p>
          <a:p>
            <a:pPr lvl="1">
              <a:lnSpc>
                <a:spcPct val="90000"/>
              </a:lnSpc>
            </a:pPr>
            <a:r>
              <a:rPr lang="en-GB" altLang="en-US" sz="2400" dirty="0"/>
              <a:t>Each of the statements in the loop body is executed </a:t>
            </a:r>
            <a:r>
              <a:rPr lang="en-GB" altLang="en-US" sz="2400" b="1" dirty="0"/>
              <a:t>x</a:t>
            </a:r>
            <a:r>
              <a:rPr lang="en-GB" altLang="en-US" sz="2400" dirty="0"/>
              <a:t> times.</a:t>
            </a:r>
          </a:p>
          <a:p>
            <a:pPr lvl="1">
              <a:lnSpc>
                <a:spcPct val="90000"/>
              </a:lnSpc>
            </a:pPr>
            <a:endParaRPr lang="en-GB" altLang="en-US" sz="2400" dirty="0"/>
          </a:p>
          <a:p>
            <a:pPr lvl="1">
              <a:lnSpc>
                <a:spcPct val="90000"/>
              </a:lnSpc>
            </a:pPr>
            <a:r>
              <a:rPr lang="en-GB" altLang="en-US" sz="2400" dirty="0"/>
              <a:t>The loop-index update statement is executed </a:t>
            </a:r>
            <a:r>
              <a:rPr lang="en-GB" altLang="en-US" sz="2400" b="1" dirty="0"/>
              <a:t>x</a:t>
            </a:r>
            <a:r>
              <a:rPr lang="en-GB" altLang="en-US" sz="2400" dirty="0"/>
              <a:t> times.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3186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Simple Example (2)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762000" y="1524000"/>
            <a:ext cx="5645150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latin typeface="Courier New" panose="02070309020205020404" pitchFamily="49" charset="0"/>
              </a:rPr>
              <a:t>// Input: int A[N], array of N integers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latin typeface="Courier New" panose="02070309020205020404" pitchFamily="49" charset="0"/>
              </a:rPr>
              <a:t>// Output: Sum of all numbers in array 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latin typeface="Courier New" panose="02070309020205020404" pitchFamily="49" charset="0"/>
              </a:rPr>
              <a:t>int Sum(int A[], int N){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latin typeface="Courier New" panose="02070309020205020404" pitchFamily="49" charset="0"/>
              </a:rPr>
              <a:t>   int s=0;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latin typeface="Courier New" panose="02070309020205020404" pitchFamily="49" charset="0"/>
              </a:rPr>
              <a:t>   for (int i=0; i&lt; N; i++)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latin typeface="Courier New" panose="02070309020205020404" pitchFamily="49" charset="0"/>
              </a:rPr>
              <a:t>      s = s + A[i];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 b="1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latin typeface="Courier New" panose="02070309020205020404" pitchFamily="49" charset="0"/>
              </a:rPr>
              <a:t>   return s;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 b="1">
              <a:latin typeface="Courier New" panose="02070309020205020404" pitchFamily="49" charset="0"/>
            </a:endParaRPr>
          </a:p>
        </p:txBody>
      </p:sp>
      <p:sp>
        <p:nvSpPr>
          <p:cNvPr id="43012" name="AutoShape 4"/>
          <p:cNvSpPr>
            <a:spLocks noChangeArrowheads="1"/>
          </p:cNvSpPr>
          <p:nvPr/>
        </p:nvSpPr>
        <p:spPr bwMode="auto">
          <a:xfrm>
            <a:off x="1235075" y="4362450"/>
            <a:ext cx="12954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43013" name="AutoShape 5"/>
          <p:cNvSpPr>
            <a:spLocks noChangeArrowheads="1"/>
          </p:cNvSpPr>
          <p:nvPr/>
        </p:nvSpPr>
        <p:spPr bwMode="auto">
          <a:xfrm>
            <a:off x="1768475" y="2686050"/>
            <a:ext cx="4572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43014" name="AutoShape 6"/>
          <p:cNvSpPr>
            <a:spLocks noChangeArrowheads="1"/>
          </p:cNvSpPr>
          <p:nvPr/>
        </p:nvSpPr>
        <p:spPr bwMode="auto">
          <a:xfrm>
            <a:off x="2454275" y="3219450"/>
            <a:ext cx="4572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43015" name="AutoShape 7"/>
          <p:cNvSpPr>
            <a:spLocks noChangeArrowheads="1"/>
          </p:cNvSpPr>
          <p:nvPr/>
        </p:nvSpPr>
        <p:spPr bwMode="auto">
          <a:xfrm>
            <a:off x="2743200" y="3810000"/>
            <a:ext cx="5334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43016" name="AutoShape 8"/>
          <p:cNvSpPr>
            <a:spLocks noChangeArrowheads="1"/>
          </p:cNvSpPr>
          <p:nvPr/>
        </p:nvSpPr>
        <p:spPr bwMode="auto">
          <a:xfrm>
            <a:off x="3140075" y="3219450"/>
            <a:ext cx="6096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43017" name="AutoShape 9"/>
          <p:cNvSpPr>
            <a:spLocks noChangeArrowheads="1"/>
          </p:cNvSpPr>
          <p:nvPr/>
        </p:nvSpPr>
        <p:spPr bwMode="auto">
          <a:xfrm>
            <a:off x="3978275" y="3219450"/>
            <a:ext cx="457200" cy="2286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800">
              <a:latin typeface="Arial" panose="020B0604020202020204" pitchFamily="34" charset="0"/>
            </a:endParaRPr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 flipH="1" flipV="1">
            <a:off x="2362200" y="2819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9" name="Oval 11"/>
          <p:cNvSpPr>
            <a:spLocks noChangeArrowheads="1"/>
          </p:cNvSpPr>
          <p:nvPr/>
        </p:nvSpPr>
        <p:spPr bwMode="auto">
          <a:xfrm>
            <a:off x="3200400" y="2667000"/>
            <a:ext cx="3048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3020" name="Oval 12"/>
          <p:cNvSpPr>
            <a:spLocks noChangeArrowheads="1"/>
          </p:cNvSpPr>
          <p:nvPr/>
        </p:nvSpPr>
        <p:spPr bwMode="auto">
          <a:xfrm>
            <a:off x="1295400" y="35052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43021" name="Oval 13"/>
          <p:cNvSpPr>
            <a:spLocks noChangeArrowheads="1"/>
          </p:cNvSpPr>
          <p:nvPr/>
        </p:nvSpPr>
        <p:spPr bwMode="auto">
          <a:xfrm>
            <a:off x="3733800" y="35052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3022" name="Oval 14"/>
          <p:cNvSpPr>
            <a:spLocks noChangeArrowheads="1"/>
          </p:cNvSpPr>
          <p:nvPr/>
        </p:nvSpPr>
        <p:spPr bwMode="auto">
          <a:xfrm>
            <a:off x="4724400" y="35052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43023" name="Line 15"/>
          <p:cNvSpPr>
            <a:spLocks noChangeShapeType="1"/>
          </p:cNvSpPr>
          <p:nvPr/>
        </p:nvSpPr>
        <p:spPr bwMode="auto">
          <a:xfrm flipV="1">
            <a:off x="1600200" y="3505200"/>
            <a:ext cx="914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4" name="Line 16"/>
          <p:cNvSpPr>
            <a:spLocks noChangeShapeType="1"/>
          </p:cNvSpPr>
          <p:nvPr/>
        </p:nvSpPr>
        <p:spPr bwMode="auto">
          <a:xfrm flipH="1" flipV="1">
            <a:off x="3505200" y="35052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5" name="Line 17"/>
          <p:cNvSpPr>
            <a:spLocks noChangeShapeType="1"/>
          </p:cNvSpPr>
          <p:nvPr/>
        </p:nvSpPr>
        <p:spPr bwMode="auto">
          <a:xfrm flipH="1" flipV="1">
            <a:off x="4343400" y="35052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6" name="Oval 18"/>
          <p:cNvSpPr>
            <a:spLocks noChangeArrowheads="1"/>
          </p:cNvSpPr>
          <p:nvPr/>
        </p:nvSpPr>
        <p:spPr bwMode="auto">
          <a:xfrm>
            <a:off x="1295400" y="39624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3027" name="Oval 19"/>
          <p:cNvSpPr>
            <a:spLocks noChangeArrowheads="1"/>
          </p:cNvSpPr>
          <p:nvPr/>
        </p:nvSpPr>
        <p:spPr bwMode="auto">
          <a:xfrm>
            <a:off x="2819400" y="41148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3028" name="Oval 20"/>
          <p:cNvSpPr>
            <a:spLocks noChangeArrowheads="1"/>
          </p:cNvSpPr>
          <p:nvPr/>
        </p:nvSpPr>
        <p:spPr bwMode="auto">
          <a:xfrm>
            <a:off x="3657600" y="41148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43029" name="Oval 21"/>
          <p:cNvSpPr>
            <a:spLocks noChangeArrowheads="1"/>
          </p:cNvSpPr>
          <p:nvPr/>
        </p:nvSpPr>
        <p:spPr bwMode="auto">
          <a:xfrm>
            <a:off x="2819400" y="4724400"/>
            <a:ext cx="304800" cy="3048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 flipV="1">
            <a:off x="1600200" y="39624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1" name="Line 23"/>
          <p:cNvSpPr>
            <a:spLocks noChangeShapeType="1"/>
          </p:cNvSpPr>
          <p:nvPr/>
        </p:nvSpPr>
        <p:spPr bwMode="auto">
          <a:xfrm flipH="1" flipV="1">
            <a:off x="2590800" y="3962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2" name="Line 24"/>
          <p:cNvSpPr>
            <a:spLocks noChangeShapeType="1"/>
          </p:cNvSpPr>
          <p:nvPr/>
        </p:nvSpPr>
        <p:spPr bwMode="auto">
          <a:xfrm flipH="1" flipV="1">
            <a:off x="3276600" y="4038600"/>
            <a:ext cx="457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3" name="Line 25"/>
          <p:cNvSpPr>
            <a:spLocks noChangeShapeType="1"/>
          </p:cNvSpPr>
          <p:nvPr/>
        </p:nvSpPr>
        <p:spPr bwMode="auto">
          <a:xfrm flipH="1" flipV="1">
            <a:off x="2590800" y="45720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0074" name="Text Box 26"/>
          <p:cNvSpPr txBox="1">
            <a:spLocks noChangeArrowheads="1"/>
          </p:cNvSpPr>
          <p:nvPr/>
        </p:nvSpPr>
        <p:spPr bwMode="auto">
          <a:xfrm>
            <a:off x="5029200" y="4038600"/>
            <a:ext cx="356552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BD0D9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onstantia" panose="0203060205030603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onstantia" panose="0203060205030603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onstantia" panose="0203060205030603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0BD0D9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10CF9B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onstantia" panose="0203060205030603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1,2,8: Once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3,4,5,6,7: Once per each iteration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                of for loop, N iteration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Total: 5N + 3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The </a:t>
            </a:r>
            <a:r>
              <a:rPr lang="en-GB" altLang="en-US" sz="2000" i="1">
                <a:latin typeface="Times New Roman" panose="02020603050405020304" pitchFamily="18" charset="0"/>
              </a:rPr>
              <a:t>complexity function</a:t>
            </a:r>
            <a:r>
              <a:rPr lang="en-GB" altLang="en-US" sz="2000">
                <a:latin typeface="Times New Roman" panose="02020603050405020304" pitchFamily="18" charset="0"/>
              </a:rPr>
              <a:t> of the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>
                <a:latin typeface="Times New Roman" panose="02020603050405020304" pitchFamily="18" charset="0"/>
              </a:rPr>
              <a:t>algorithm is : </a:t>
            </a:r>
            <a:r>
              <a:rPr lang="en-GB" altLang="en-US" sz="2000" i="1">
                <a:latin typeface="Times New Roman" panose="02020603050405020304" pitchFamily="18" charset="0"/>
              </a:rPr>
              <a:t>f(N) = 5N +3</a:t>
            </a:r>
            <a:endParaRPr lang="en-GB" altLang="en-US" sz="20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8216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0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00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00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00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300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00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52400" y="381000"/>
            <a:ext cx="7543800" cy="762000"/>
          </a:xfrm>
        </p:spPr>
        <p:txBody>
          <a:bodyPr/>
          <a:lstStyle/>
          <a:p>
            <a:r>
              <a:rPr lang="en-US" altLang="en-US"/>
              <a:t>Example explanation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Estimated running time for different values of N for 5N+3:</a:t>
            </a:r>
          </a:p>
          <a:p>
            <a:pPr lvl="1">
              <a:defRPr/>
            </a:pPr>
            <a:r>
              <a:rPr lang="en-US" dirty="0"/>
              <a:t>N = 10 =&gt; 53 steps</a:t>
            </a:r>
          </a:p>
          <a:p>
            <a:pPr lvl="1">
              <a:defRPr/>
            </a:pPr>
            <a:r>
              <a:rPr lang="en-US" dirty="0"/>
              <a:t>N = 100 =&gt; 503 steps</a:t>
            </a:r>
          </a:p>
          <a:p>
            <a:pPr lvl="1">
              <a:defRPr/>
            </a:pPr>
            <a:r>
              <a:rPr lang="en-US" dirty="0"/>
              <a:t>N = 1,000 =&gt; 5003 steps</a:t>
            </a:r>
          </a:p>
          <a:p>
            <a:pPr lvl="1">
              <a:defRPr/>
            </a:pPr>
            <a:r>
              <a:rPr lang="en-US" dirty="0"/>
              <a:t>N = 1,000,000 =&gt; 5,000,003 steps</a:t>
            </a:r>
          </a:p>
          <a:p>
            <a:pPr>
              <a:defRPr/>
            </a:pPr>
            <a:r>
              <a:rPr lang="en-US" dirty="0"/>
              <a:t>As N grows, the number of steps grow in linear proportion to N for this function “Sum”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02969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7543800" cy="762000"/>
          </a:xfrm>
        </p:spPr>
        <p:txBody>
          <a:bodyPr/>
          <a:lstStyle/>
          <a:p>
            <a:r>
              <a:rPr lang="en-US" altLang="en-US" dirty="0"/>
              <a:t>What Dominates in Previous Example?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52400" y="2011363"/>
            <a:ext cx="8915400" cy="4389437"/>
          </a:xfrm>
        </p:spPr>
        <p:txBody>
          <a:bodyPr/>
          <a:lstStyle/>
          <a:p>
            <a:r>
              <a:rPr lang="en-US" altLang="en-US" dirty="0"/>
              <a:t>What about the +3 and 5 in 5N+3?</a:t>
            </a:r>
          </a:p>
          <a:p>
            <a:pPr lvl="1"/>
            <a:r>
              <a:rPr lang="en-US" altLang="en-US" dirty="0"/>
              <a:t>– As N gets large, the +3 becomes insignificant</a:t>
            </a:r>
          </a:p>
          <a:p>
            <a:pPr lvl="1"/>
            <a:r>
              <a:rPr lang="en-US" altLang="en-US" dirty="0"/>
              <a:t>– 5 is inaccurate, as different operations require varying amounts of time and also does not have any significant importance</a:t>
            </a:r>
          </a:p>
          <a:p>
            <a:r>
              <a:rPr lang="en-US" altLang="en-US" dirty="0"/>
              <a:t>Asymptotic Complexity: As N gets large, concentrate on the highest order term:</a:t>
            </a:r>
          </a:p>
          <a:p>
            <a:pPr lvl="1"/>
            <a:r>
              <a:rPr lang="en-US" altLang="en-US" dirty="0"/>
              <a:t>Drop lower order terms such as +3</a:t>
            </a:r>
          </a:p>
          <a:p>
            <a:pPr lvl="1"/>
            <a:r>
              <a:rPr lang="en-US" altLang="en-US" dirty="0"/>
              <a:t>Drop the constant coefficient of the highest order term i.e. N</a:t>
            </a:r>
          </a:p>
          <a:p>
            <a:pPr lvl="1"/>
            <a:r>
              <a:rPr lang="en-US" altLang="en-US" dirty="0"/>
              <a:t>The 5N+3 time bound is said to "grow asymptotically" like 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7227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 txBox="1">
            <a:spLocks noGrp="1"/>
          </p:cNvSpPr>
          <p:nvPr/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fld id="{7AA47B82-E7DA-46BD-8E1B-4FFB808F8626}" type="slidenum">
              <a:rPr lang="en-US" altLang="en-US" sz="1400">
                <a:solidFill>
                  <a:srgbClr val="000000"/>
                </a:solidFill>
                <a:latin typeface="Arial" panose="020B0604020202020204" pitchFamily="34" charset="0"/>
              </a:rPr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0" y="206375"/>
            <a:ext cx="6858000" cy="5334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Rate of Growth</a:t>
            </a:r>
          </a:p>
        </p:txBody>
      </p:sp>
      <p:sp>
        <p:nvSpPr>
          <p:cNvPr id="74756" name="Rectangle 3"/>
          <p:cNvSpPr>
            <a:spLocks noGrp="1"/>
          </p:cNvSpPr>
          <p:nvPr>
            <p:ph type="body" idx="4294967295"/>
          </p:nvPr>
        </p:nvSpPr>
        <p:spPr>
          <a:xfrm>
            <a:off x="304800" y="1295400"/>
            <a:ext cx="8534400" cy="5026025"/>
          </a:xfrm>
        </p:spPr>
        <p:txBody>
          <a:bodyPr/>
          <a:lstStyle/>
          <a:p>
            <a:pPr eaLnBrk="1" hangingPunct="1"/>
            <a:r>
              <a:rPr lang="en-US" altLang="en-US" sz="2800">
                <a:cs typeface="Times New Roman" panose="02020603050405020304" pitchFamily="18" charset="0"/>
              </a:rPr>
              <a:t>Consider the example of buying </a:t>
            </a:r>
            <a:r>
              <a:rPr lang="en-US" altLang="en-US" sz="2800" i="1">
                <a:cs typeface="Times New Roman" panose="02020603050405020304" pitchFamily="18" charset="0"/>
              </a:rPr>
              <a:t>elephants</a:t>
            </a:r>
            <a:r>
              <a:rPr lang="en-US" altLang="en-US" sz="2800">
                <a:cs typeface="Times New Roman" panose="02020603050405020304" pitchFamily="18" charset="0"/>
              </a:rPr>
              <a:t> and </a:t>
            </a:r>
            <a:r>
              <a:rPr lang="en-US" altLang="en-US" sz="2800" i="1">
                <a:cs typeface="Times New Roman" panose="02020603050405020304" pitchFamily="18" charset="0"/>
              </a:rPr>
              <a:t>goldfish:</a:t>
            </a:r>
            <a:endParaRPr lang="en-US" alt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	</a:t>
            </a:r>
            <a:r>
              <a:rPr lang="en-US" altLang="en-US" sz="2800" b="1">
                <a:cs typeface="Times New Roman" panose="02020603050405020304" pitchFamily="18" charset="0"/>
              </a:rPr>
              <a:t>Cost</a:t>
            </a:r>
            <a:r>
              <a:rPr lang="en-US" altLang="en-US" sz="2800">
                <a:cs typeface="Times New Roman" panose="02020603050405020304" pitchFamily="18" charset="0"/>
              </a:rPr>
              <a:t>: cost_of_elephants + cost_of_goldfish</a:t>
            </a:r>
            <a:endParaRPr lang="en-US" alt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	</a:t>
            </a:r>
            <a:r>
              <a:rPr lang="en-US" altLang="en-US" sz="2800" b="1">
                <a:cs typeface="Times New Roman" panose="02020603050405020304" pitchFamily="18" charset="0"/>
              </a:rPr>
              <a:t>Cost</a:t>
            </a:r>
            <a:r>
              <a:rPr lang="en-US" altLang="en-US" sz="2800">
                <a:cs typeface="Times New Roman" panose="02020603050405020304" pitchFamily="18" charset="0"/>
              </a:rPr>
              <a:t> ~ cost_of_elephants </a:t>
            </a:r>
            <a:r>
              <a:rPr lang="en-US" altLang="en-US" sz="2800">
                <a:solidFill>
                  <a:srgbClr val="DD0111"/>
                </a:solidFill>
                <a:cs typeface="Times New Roman" panose="02020603050405020304" pitchFamily="18" charset="0"/>
              </a:rPr>
              <a:t>(approximation)</a:t>
            </a:r>
          </a:p>
          <a:p>
            <a:pPr eaLnBrk="1" hangingPunct="1"/>
            <a:r>
              <a:rPr lang="en-US" altLang="en-US" sz="2800">
                <a:cs typeface="Times New Roman" panose="02020603050405020304" pitchFamily="18" charset="0"/>
              </a:rPr>
              <a:t>The low order terms in a function are relatively insignificant for </a:t>
            </a:r>
            <a:r>
              <a:rPr lang="en-US" altLang="en-US" sz="2800" b="1">
                <a:cs typeface="Times New Roman" panose="02020603050405020304" pitchFamily="18" charset="0"/>
              </a:rPr>
              <a:t>large</a:t>
            </a:r>
            <a:r>
              <a:rPr lang="en-US" altLang="en-US" sz="2800">
                <a:cs typeface="Times New Roman" panose="02020603050405020304" pitchFamily="18" charset="0"/>
              </a:rPr>
              <a:t> </a:t>
            </a:r>
            <a:r>
              <a:rPr lang="en-US" altLang="en-US" sz="2800" i="1">
                <a:cs typeface="Times New Roman" panose="02020603050405020304" pitchFamily="18" charset="0"/>
              </a:rPr>
              <a:t>n</a:t>
            </a:r>
            <a:endParaRPr lang="en-US" alt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		  </a:t>
            </a:r>
            <a:r>
              <a:rPr lang="en-US" altLang="en-US" sz="2800" i="1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 baseline="30000">
                <a:solidFill>
                  <a:srgbClr val="DD0111"/>
                </a:solidFill>
                <a:cs typeface="Times New Roman" panose="02020603050405020304" pitchFamily="18" charset="0"/>
              </a:rPr>
              <a:t>4</a:t>
            </a:r>
            <a:r>
              <a:rPr lang="en-US" altLang="en-US" sz="2800">
                <a:solidFill>
                  <a:srgbClr val="DD0111"/>
                </a:solidFill>
                <a:cs typeface="Times New Roman" panose="02020603050405020304" pitchFamily="18" charset="0"/>
              </a:rPr>
              <a:t> + 100</a:t>
            </a:r>
            <a:r>
              <a:rPr lang="en-US" altLang="en-US" sz="2800" i="1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 baseline="30000">
                <a:solidFill>
                  <a:srgbClr val="DD0111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>
                <a:solidFill>
                  <a:srgbClr val="DD0111"/>
                </a:solidFill>
                <a:cs typeface="Times New Roman" panose="02020603050405020304" pitchFamily="18" charset="0"/>
              </a:rPr>
              <a:t> + 10</a:t>
            </a:r>
            <a:r>
              <a:rPr lang="en-US" altLang="en-US" sz="2800" i="1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>
                <a:solidFill>
                  <a:srgbClr val="DD0111"/>
                </a:solidFill>
                <a:cs typeface="Times New Roman" panose="02020603050405020304" pitchFamily="18" charset="0"/>
              </a:rPr>
              <a:t> + 50</a:t>
            </a:r>
            <a:r>
              <a:rPr lang="en-US" altLang="en-US" sz="2800">
                <a:cs typeface="Times New Roman" panose="02020603050405020304" pitchFamily="18" charset="0"/>
              </a:rPr>
              <a:t>   ~  </a:t>
            </a:r>
            <a:r>
              <a:rPr lang="en-US" altLang="en-US" sz="2800" i="1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 baseline="30000">
                <a:solidFill>
                  <a:srgbClr val="DD0111"/>
                </a:solidFill>
                <a:cs typeface="Times New Roman" panose="02020603050405020304" pitchFamily="18" charset="0"/>
              </a:rPr>
              <a:t>4</a:t>
            </a:r>
          </a:p>
          <a:p>
            <a:pPr eaLnBrk="1" hangingPunct="1">
              <a:buFontTx/>
              <a:buNone/>
            </a:pPr>
            <a:endParaRPr lang="en-US" altLang="en-US" sz="2800" baseline="30000"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800" i="1">
                <a:cs typeface="Times New Roman" panose="02020603050405020304" pitchFamily="18" charset="0"/>
              </a:rPr>
              <a:t> i.e., </a:t>
            </a:r>
            <a:r>
              <a:rPr lang="en-US" altLang="en-US" sz="2800">
                <a:cs typeface="Times New Roman" panose="02020603050405020304" pitchFamily="18" charset="0"/>
              </a:rPr>
              <a:t>we say that</a:t>
            </a:r>
            <a:r>
              <a:rPr lang="en-US" altLang="en-US" sz="2800" i="1">
                <a:cs typeface="Times New Roman" panose="02020603050405020304" pitchFamily="18" charset="0"/>
              </a:rPr>
              <a:t> </a:t>
            </a:r>
            <a:r>
              <a:rPr lang="en-US" altLang="en-US" sz="2800" i="1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 baseline="30000">
                <a:solidFill>
                  <a:srgbClr val="DD0111"/>
                </a:solidFill>
                <a:cs typeface="Times New Roman" panose="02020603050405020304" pitchFamily="18" charset="0"/>
              </a:rPr>
              <a:t>4</a:t>
            </a:r>
            <a:r>
              <a:rPr lang="en-US" altLang="en-US" sz="2800">
                <a:solidFill>
                  <a:srgbClr val="DD0111"/>
                </a:solidFill>
                <a:cs typeface="Times New Roman" panose="02020603050405020304" pitchFamily="18" charset="0"/>
              </a:rPr>
              <a:t> + 100</a:t>
            </a:r>
            <a:r>
              <a:rPr lang="en-US" altLang="en-US" sz="2800" i="1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 baseline="30000">
                <a:solidFill>
                  <a:srgbClr val="DD0111"/>
                </a:solidFill>
                <a:cs typeface="Times New Roman" panose="02020603050405020304" pitchFamily="18" charset="0"/>
              </a:rPr>
              <a:t>2</a:t>
            </a:r>
            <a:r>
              <a:rPr lang="en-US" altLang="en-US" sz="2800">
                <a:solidFill>
                  <a:srgbClr val="DD0111"/>
                </a:solidFill>
                <a:cs typeface="Times New Roman" panose="02020603050405020304" pitchFamily="18" charset="0"/>
              </a:rPr>
              <a:t> + 10</a:t>
            </a:r>
            <a:r>
              <a:rPr lang="en-US" altLang="en-US" sz="2800" i="1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>
                <a:solidFill>
                  <a:srgbClr val="DD0111"/>
                </a:solidFill>
                <a:cs typeface="Times New Roman" panose="02020603050405020304" pitchFamily="18" charset="0"/>
              </a:rPr>
              <a:t> + 50</a:t>
            </a:r>
            <a:r>
              <a:rPr lang="en-US" altLang="en-US" sz="2800">
                <a:cs typeface="Times New Roman" panose="02020603050405020304" pitchFamily="18" charset="0"/>
              </a:rPr>
              <a:t> and </a:t>
            </a:r>
            <a:r>
              <a:rPr lang="en-US" altLang="en-US" sz="2800" i="1">
                <a:solidFill>
                  <a:srgbClr val="DD0111"/>
                </a:solidFill>
                <a:cs typeface="Times New Roman" panose="02020603050405020304" pitchFamily="18" charset="0"/>
              </a:rPr>
              <a:t>n</a:t>
            </a:r>
            <a:r>
              <a:rPr lang="en-US" altLang="en-US" sz="2800" baseline="30000">
                <a:solidFill>
                  <a:srgbClr val="DD0111"/>
                </a:solidFill>
                <a:cs typeface="Times New Roman" panose="02020603050405020304" pitchFamily="18" charset="0"/>
              </a:rPr>
              <a:t>4</a:t>
            </a:r>
            <a:r>
              <a:rPr lang="en-US" altLang="en-US" sz="2800">
                <a:ea typeface="MS Mincho" panose="02020609040205080304" pitchFamily="49" charset="-128"/>
              </a:rPr>
              <a:t> have the same  </a:t>
            </a:r>
            <a:r>
              <a:rPr lang="en-US" altLang="en-US" sz="2800" b="1">
                <a:ea typeface="MS Mincho" panose="02020609040205080304" pitchFamily="49" charset="-128"/>
              </a:rPr>
              <a:t>rate of growth</a:t>
            </a:r>
            <a:r>
              <a:rPr lang="en-US" altLang="en-US" sz="2800" u="sng"/>
              <a:t> </a:t>
            </a:r>
            <a:endParaRPr lang="en-US" alt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en-US" altLang="en-US" sz="280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9F6ED-63A2-45A5-91F4-232D0943B13F}" type="slidenum">
              <a:rPr lang="zh-TW" altLang="en-US" smtClean="0"/>
              <a:pPr/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293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Simple Complexity Analysis: Loops (with &lt;)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229600" cy="52562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2000" dirty="0"/>
              <a:t>In the following for-loop:</a:t>
            </a:r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GB" altLang="en-US" sz="2000" dirty="0"/>
              <a:t>    		The number of iterations is: (</a:t>
            </a:r>
            <a:r>
              <a:rPr lang="en-GB" altLang="en-US" sz="2000" b="1" dirty="0"/>
              <a:t>n – k ) / m</a:t>
            </a:r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</a:pPr>
            <a:r>
              <a:rPr lang="en-GB" altLang="en-US" sz="2000" dirty="0"/>
              <a:t>The initialization statement, </a:t>
            </a:r>
            <a:r>
              <a:rPr lang="en-GB" altLang="en-US" sz="2000" b="1" dirty="0" err="1"/>
              <a:t>i</a:t>
            </a:r>
            <a:r>
              <a:rPr lang="en-GB" altLang="en-US" sz="2000" b="1" dirty="0"/>
              <a:t> = k</a:t>
            </a:r>
            <a:r>
              <a:rPr lang="en-GB" altLang="en-US" sz="2000" dirty="0"/>
              <a:t>, is executed </a:t>
            </a:r>
            <a:r>
              <a:rPr lang="en-GB" altLang="en-US" sz="2000" b="1" dirty="0"/>
              <a:t>one</a:t>
            </a:r>
            <a:r>
              <a:rPr lang="en-GB" altLang="en-US" sz="2000" dirty="0"/>
              <a:t> time.</a:t>
            </a:r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</a:pPr>
            <a:r>
              <a:rPr lang="en-GB" altLang="en-US" sz="2000" dirty="0"/>
              <a:t>The condition, </a:t>
            </a:r>
            <a:r>
              <a:rPr lang="en-GB" altLang="en-US" sz="2000" b="1" dirty="0" err="1"/>
              <a:t>i</a:t>
            </a:r>
            <a:r>
              <a:rPr lang="en-GB" altLang="en-US" sz="2000" b="1" dirty="0"/>
              <a:t> &lt; n</a:t>
            </a:r>
            <a:r>
              <a:rPr lang="en-GB" altLang="en-US" sz="2000" dirty="0"/>
              <a:t>, is executed ((</a:t>
            </a:r>
            <a:r>
              <a:rPr lang="en-GB" altLang="en-US" sz="2000" b="1" dirty="0"/>
              <a:t>n – k) / m  )+  1</a:t>
            </a:r>
            <a:r>
              <a:rPr lang="en-GB" altLang="en-US" sz="2000" dirty="0"/>
              <a:t> times.</a:t>
            </a:r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</a:pPr>
            <a:r>
              <a:rPr lang="en-GB" altLang="en-US" sz="2000" dirty="0"/>
              <a:t>The update statement, </a:t>
            </a:r>
            <a:r>
              <a:rPr lang="en-GB" altLang="en-US" sz="2000" b="1" dirty="0" err="1"/>
              <a:t>i</a:t>
            </a:r>
            <a:r>
              <a:rPr lang="en-GB" altLang="en-US" sz="2000" b="1" dirty="0"/>
              <a:t> = </a:t>
            </a:r>
            <a:r>
              <a:rPr lang="en-GB" altLang="en-US" sz="2000" b="1" dirty="0" err="1"/>
              <a:t>i</a:t>
            </a:r>
            <a:r>
              <a:rPr lang="en-GB" altLang="en-US" sz="2000" b="1" dirty="0"/>
              <a:t> + m</a:t>
            </a:r>
            <a:r>
              <a:rPr lang="en-GB" altLang="en-US" sz="2000" dirty="0"/>
              <a:t>, is executed (</a:t>
            </a:r>
            <a:r>
              <a:rPr lang="en-GB" altLang="en-US" sz="2000" b="1" dirty="0"/>
              <a:t>n – k) / m </a:t>
            </a:r>
            <a:r>
              <a:rPr lang="en-GB" altLang="en-US" sz="2000" dirty="0"/>
              <a:t>  times.</a:t>
            </a:r>
          </a:p>
          <a:p>
            <a:pPr>
              <a:lnSpc>
                <a:spcPct val="80000"/>
              </a:lnSpc>
            </a:pPr>
            <a:endParaRPr lang="en-GB" altLang="en-US" sz="2000" dirty="0"/>
          </a:p>
          <a:p>
            <a:pPr>
              <a:lnSpc>
                <a:spcPct val="80000"/>
              </a:lnSpc>
            </a:pPr>
            <a:r>
              <a:rPr lang="en-GB" altLang="en-US" sz="2000" dirty="0"/>
              <a:t>Each of </a:t>
            </a:r>
            <a:r>
              <a:rPr lang="en-GB" altLang="en-US" sz="2000" b="1" dirty="0"/>
              <a:t>statement1</a:t>
            </a:r>
            <a:r>
              <a:rPr lang="en-GB" altLang="en-US" sz="2000" dirty="0"/>
              <a:t> and </a:t>
            </a:r>
            <a:r>
              <a:rPr lang="en-GB" altLang="en-US" sz="2000" b="1" dirty="0"/>
              <a:t>statement2</a:t>
            </a:r>
            <a:r>
              <a:rPr lang="en-GB" altLang="en-US" sz="2000" dirty="0"/>
              <a:t> is executed (</a:t>
            </a:r>
            <a:r>
              <a:rPr lang="en-GB" altLang="en-US" sz="2000" b="1" dirty="0"/>
              <a:t>n – k) / m </a:t>
            </a:r>
            <a:r>
              <a:rPr lang="en-GB" altLang="en-US" sz="2000" dirty="0"/>
              <a:t>  times.</a:t>
            </a:r>
            <a:endParaRPr lang="en-US" altLang="en-US" sz="2000" dirty="0"/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1619250" y="1773238"/>
            <a:ext cx="5416868" cy="1323439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GB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k; </a:t>
            </a:r>
            <a:r>
              <a:rPr lang="en-GB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GB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 m){</a:t>
            </a:r>
          </a:p>
          <a:p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statement1;</a:t>
            </a:r>
          </a:p>
          <a:p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statement2;</a:t>
            </a:r>
          </a:p>
          <a:p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6159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 altLang="en-US" sz="3200"/>
              <a:t>Simple Complexity Analysis: Loop Example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8229600" cy="525621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GB" altLang="en-US" sz="1800" dirty="0"/>
              <a:t>Find the exact number of basic operations in the following program fragment:</a:t>
            </a:r>
          </a:p>
          <a:p>
            <a:pPr>
              <a:lnSpc>
                <a:spcPct val="80000"/>
              </a:lnSpc>
            </a:pPr>
            <a:endParaRPr lang="en-GB" altLang="en-US" sz="1800" dirty="0"/>
          </a:p>
          <a:p>
            <a:pPr>
              <a:lnSpc>
                <a:spcPct val="80000"/>
              </a:lnSpc>
            </a:pPr>
            <a:endParaRPr lang="en-GB" altLang="en-US" sz="1800" dirty="0"/>
          </a:p>
          <a:p>
            <a:pPr>
              <a:lnSpc>
                <a:spcPct val="80000"/>
              </a:lnSpc>
            </a:pPr>
            <a:endParaRPr lang="en-GB" altLang="en-US" sz="1800" dirty="0"/>
          </a:p>
          <a:p>
            <a:pPr>
              <a:lnSpc>
                <a:spcPct val="80000"/>
              </a:lnSpc>
            </a:pPr>
            <a:endParaRPr lang="en-GB" altLang="en-US" sz="1800" dirty="0"/>
          </a:p>
          <a:p>
            <a:pPr>
              <a:lnSpc>
                <a:spcPct val="80000"/>
              </a:lnSpc>
            </a:pPr>
            <a:endParaRPr lang="en-GB" altLang="en-US" sz="1800" dirty="0"/>
          </a:p>
          <a:p>
            <a:pPr>
              <a:lnSpc>
                <a:spcPct val="80000"/>
              </a:lnSpc>
            </a:pPr>
            <a:endParaRPr lang="en-GB" altLang="en-US" sz="1800" dirty="0"/>
          </a:p>
          <a:p>
            <a:pPr>
              <a:lnSpc>
                <a:spcPct val="80000"/>
              </a:lnSpc>
            </a:pPr>
            <a:endParaRPr lang="en-GB" altLang="en-US" sz="1800" dirty="0"/>
          </a:p>
          <a:p>
            <a:pPr>
              <a:lnSpc>
                <a:spcPct val="80000"/>
              </a:lnSpc>
            </a:pPr>
            <a:endParaRPr lang="en-GB" altLang="en-US" sz="1800" dirty="0"/>
          </a:p>
          <a:p>
            <a:pPr>
              <a:lnSpc>
                <a:spcPct val="80000"/>
              </a:lnSpc>
            </a:pPr>
            <a:r>
              <a:rPr lang="en-GB" altLang="en-US" sz="1800" dirty="0"/>
              <a:t>There are 2 assignments outside the loop =&gt; 2 operations.</a:t>
            </a:r>
          </a:p>
          <a:p>
            <a:pPr>
              <a:lnSpc>
                <a:spcPct val="80000"/>
              </a:lnSpc>
            </a:pPr>
            <a:r>
              <a:rPr lang="en-GB" altLang="en-US" sz="1800" dirty="0"/>
              <a:t>The </a:t>
            </a:r>
            <a:r>
              <a:rPr lang="en-GB" altLang="en-US" sz="1800" b="1" dirty="0"/>
              <a:t>for</a:t>
            </a:r>
            <a:r>
              <a:rPr lang="en-GB" altLang="en-US" sz="1800" dirty="0"/>
              <a:t> loop actually comprises</a:t>
            </a:r>
          </a:p>
          <a:p>
            <a:pPr>
              <a:lnSpc>
                <a:spcPct val="80000"/>
              </a:lnSpc>
            </a:pPr>
            <a:r>
              <a:rPr lang="en-GB" altLang="en-US" sz="1800" dirty="0"/>
              <a:t>an assignment (</a:t>
            </a:r>
            <a:r>
              <a:rPr lang="en-GB" altLang="en-US" sz="1800" dirty="0" err="1"/>
              <a:t>i</a:t>
            </a:r>
            <a:r>
              <a:rPr lang="en-GB" altLang="en-US" sz="1800" dirty="0"/>
              <a:t> = 0) =&gt; 1 operation</a:t>
            </a:r>
          </a:p>
          <a:p>
            <a:pPr>
              <a:lnSpc>
                <a:spcPct val="80000"/>
              </a:lnSpc>
            </a:pPr>
            <a:r>
              <a:rPr lang="en-GB" altLang="en-US" sz="1800" dirty="0"/>
              <a:t>a test (</a:t>
            </a:r>
            <a:r>
              <a:rPr lang="en-GB" altLang="en-US" sz="1800" dirty="0" err="1"/>
              <a:t>i</a:t>
            </a:r>
            <a:r>
              <a:rPr lang="en-GB" altLang="en-US" sz="1800" dirty="0"/>
              <a:t> &lt; n) =&gt; n + 1 operations</a:t>
            </a:r>
          </a:p>
          <a:p>
            <a:pPr>
              <a:lnSpc>
                <a:spcPct val="80000"/>
              </a:lnSpc>
            </a:pPr>
            <a:r>
              <a:rPr lang="en-GB" altLang="en-US" sz="1800" dirty="0"/>
              <a:t>an increment (</a:t>
            </a:r>
            <a:r>
              <a:rPr lang="en-GB" altLang="en-US" sz="1800" dirty="0" err="1"/>
              <a:t>i</a:t>
            </a:r>
            <a:r>
              <a:rPr lang="en-GB" altLang="en-US" sz="1800" dirty="0"/>
              <a:t>++) =&gt; n operations</a:t>
            </a:r>
          </a:p>
          <a:p>
            <a:pPr>
              <a:lnSpc>
                <a:spcPct val="80000"/>
              </a:lnSpc>
            </a:pPr>
            <a:r>
              <a:rPr lang="en-GB" altLang="en-US" sz="1800" dirty="0"/>
              <a:t>the loop body that has three </a:t>
            </a:r>
            <a:r>
              <a:rPr lang="en-GB" altLang="en-US" sz="1800" b="1" i="1" dirty="0"/>
              <a:t>assignments</a:t>
            </a:r>
            <a:r>
              <a:rPr lang="en-GB" altLang="en-US" sz="1800" dirty="0"/>
              <a:t>, two </a:t>
            </a:r>
            <a:r>
              <a:rPr lang="en-GB" altLang="en-US" sz="1800" b="1" i="1" dirty="0"/>
              <a:t>multiplications</a:t>
            </a:r>
            <a:r>
              <a:rPr lang="en-GB" altLang="en-US" sz="1800" dirty="0"/>
              <a:t>, and an </a:t>
            </a:r>
            <a:r>
              <a:rPr lang="en-GB" altLang="en-US" sz="1800" b="1" i="1" dirty="0"/>
              <a:t>addition</a:t>
            </a:r>
            <a:r>
              <a:rPr lang="en-GB" altLang="en-US" sz="1800" dirty="0"/>
              <a:t> 2 array access=&gt; 8 n operations</a:t>
            </a:r>
            <a:endParaRPr lang="en-US" altLang="en-US" sz="1800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600" dirty="0"/>
              <a:t>Thus the total number of basic operations is 8 * n + n + (n + 1) + 3 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en-US" sz="1600" dirty="0"/>
              <a:t>  </a:t>
            </a:r>
            <a:r>
              <a:rPr lang="en-US" altLang="en-US" sz="1600"/>
              <a:t>= </a:t>
            </a:r>
            <a:r>
              <a:rPr lang="en-US" altLang="en-US" sz="1600" b="1"/>
              <a:t>10n </a:t>
            </a:r>
            <a:r>
              <a:rPr lang="en-US" altLang="en-US" sz="1600" b="1" dirty="0"/>
              <a:t>+ 4</a:t>
            </a: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2057400" y="1676400"/>
            <a:ext cx="4392613" cy="203132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/>
            <a:r>
              <a:rPr lang="es-AR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s-A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x, y;</a:t>
            </a:r>
          </a:p>
          <a:p>
            <a:pPr lvl="1"/>
            <a:r>
              <a:rPr lang="es-A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= 2.5 ; y = 3.0;</a:t>
            </a:r>
            <a:endParaRPr lang="en-GB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en-GB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GB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GB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lvl="1"/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A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a[i] = x * y;</a:t>
            </a:r>
          </a:p>
          <a:p>
            <a:pPr lvl="1"/>
            <a:r>
              <a:rPr lang="es-A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x = 2.5 * x;</a:t>
            </a:r>
          </a:p>
          <a:p>
            <a:pPr lvl="1"/>
            <a:r>
              <a:rPr lang="es-AR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y = y + a[i];</a:t>
            </a:r>
            <a:endParaRPr lang="en-GB" alt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GB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5183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39763"/>
          </a:xfrm>
        </p:spPr>
        <p:txBody>
          <a:bodyPr/>
          <a:lstStyle/>
          <a:p>
            <a:pPr eaLnBrk="1" hangingPunct="1"/>
            <a:r>
              <a:rPr lang="en-US" altLang="en-US" sz="4000"/>
              <a:t>Running Time Calculations</a:t>
            </a:r>
          </a:p>
        </p:txBody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>
          <a:xfrm>
            <a:off x="228600" y="1219200"/>
            <a:ext cx="8686800" cy="5867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latin typeface="Times New Roman" panose="02020603050405020304" pitchFamily="18" charset="0"/>
              </a:rPr>
              <a:t>Simple for loop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Sum (</a:t>
            </a:r>
            <a:r>
              <a:rPr lang="en-US" altLang="en-US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N) 	{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/* 1 */</a:t>
            </a:r>
            <a:r>
              <a:rPr lang="en-US" altLang="en-US" sz="2400" dirty="0">
                <a:latin typeface="Times New Roman" panose="02020603050405020304" pitchFamily="18" charset="0"/>
              </a:rPr>
              <a:t>   </a:t>
            </a:r>
            <a:r>
              <a:rPr lang="en-US" altLang="en-US" sz="24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sum = 0;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/* 2 </a:t>
            </a:r>
            <a:r>
              <a:rPr lang="en-US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*/   for (</a:t>
            </a:r>
            <a:r>
              <a:rPr lang="en-US" altLang="en-US" sz="24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=1; </a:t>
            </a:r>
            <a:r>
              <a:rPr lang="en-US" altLang="en-US" sz="24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&lt;= N; </a:t>
            </a:r>
            <a:r>
              <a:rPr lang="en-US" altLang="en-US" sz="24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++)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/* 3 */         </a:t>
            </a:r>
            <a:r>
              <a:rPr lang="en-US" altLang="en-US" sz="24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sum</a:t>
            </a:r>
            <a:r>
              <a:rPr lang="en-US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en-US" sz="2400" i="1" dirty="0">
                <a:solidFill>
                  <a:srgbClr val="000099"/>
                </a:solidFill>
                <a:latin typeface="Times New Roman" panose="02020603050405020304" pitchFamily="18" charset="0"/>
              </a:rPr>
              <a:t>sum</a:t>
            </a:r>
            <a:r>
              <a:rPr lang="en-US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 + </a:t>
            </a:r>
            <a:r>
              <a:rPr lang="en-US" altLang="en-US" sz="24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 * </a:t>
            </a:r>
            <a:r>
              <a:rPr lang="en-US" altLang="en-US" sz="24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 * </a:t>
            </a:r>
            <a:r>
              <a:rPr lang="en-US" altLang="en-US" sz="2400" i="1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rgbClr val="000099"/>
                </a:solidFill>
                <a:latin typeface="Times New Roman" panose="02020603050405020304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/* 4 */         </a:t>
            </a: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sz="24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sum</a:t>
            </a: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 ;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            }</a:t>
            </a:r>
            <a:endParaRPr lang="en-US" altLang="en-US" sz="2400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en-US" dirty="0">
                <a:latin typeface="Times New Roman" panose="02020603050405020304" pitchFamily="18" charset="0"/>
              </a:rPr>
              <a:t>: What is the running time?</a:t>
            </a:r>
            <a:endParaRPr lang="en-US" altLang="en-US" sz="22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200" dirty="0">
                <a:latin typeface="Times New Roman" panose="02020603050405020304" pitchFamily="18" charset="0"/>
              </a:rPr>
              <a:t>  Line </a:t>
            </a:r>
            <a:r>
              <a:rPr lang="en-US" altLang="en-US" sz="2200" dirty="0">
                <a:solidFill>
                  <a:srgbClr val="0000FF"/>
                </a:solidFill>
                <a:latin typeface="Times New Roman" panose="02020603050405020304" pitchFamily="18" charset="0"/>
              </a:rPr>
              <a:t>1 &amp; 4</a:t>
            </a:r>
            <a:r>
              <a:rPr lang="en-US" altLang="en-US" sz="2200" dirty="0">
                <a:latin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altLang="en-US" sz="22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2 </a:t>
            </a:r>
            <a:r>
              <a:rPr lang="en-US" altLang="en-US" sz="2200" dirty="0">
                <a:latin typeface="Times New Roman" panose="02020603050405020304" pitchFamily="18" charset="0"/>
                <a:sym typeface="Wingdings" panose="05000000000000000000" pitchFamily="2" charset="2"/>
              </a:rPr>
              <a:t>units of time            			     	</a:t>
            </a: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200" dirty="0">
                <a:latin typeface="Times New Roman" panose="02020603050405020304" pitchFamily="18" charset="0"/>
              </a:rPr>
              <a:t>  Line </a:t>
            </a:r>
            <a:r>
              <a:rPr lang="en-US" altLang="en-US" sz="2200" dirty="0">
                <a:solidFill>
                  <a:srgbClr val="0000FF"/>
                </a:solidFill>
                <a:latin typeface="Times New Roman" panose="02020603050405020304" pitchFamily="18" charset="0"/>
              </a:rPr>
              <a:t>2 </a:t>
            </a:r>
            <a:r>
              <a:rPr lang="en-US" altLang="en-US" sz="22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 1</a:t>
            </a:r>
            <a:r>
              <a:rPr lang="en-US" altLang="en-US" sz="2200" dirty="0">
                <a:latin typeface="Times New Roman" panose="02020603050405020304" pitchFamily="18" charset="0"/>
                <a:sym typeface="Wingdings" panose="05000000000000000000" pitchFamily="2" charset="2"/>
              </a:rPr>
              <a:t> unit (initialize) + </a:t>
            </a:r>
            <a:r>
              <a:rPr lang="en-US" altLang="en-US" sz="2200" i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</a:t>
            </a:r>
            <a:r>
              <a:rPr lang="en-US" altLang="en-US" sz="2200" b="1" i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en-US" sz="22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+1)</a:t>
            </a:r>
            <a:r>
              <a:rPr lang="en-US" altLang="en-US" sz="2200" dirty="0">
                <a:latin typeface="Times New Roman" panose="02020603050405020304" pitchFamily="18" charset="0"/>
                <a:sym typeface="Wingdings" panose="05000000000000000000" pitchFamily="2" charset="2"/>
              </a:rPr>
              <a:t> tests +</a:t>
            </a:r>
            <a:r>
              <a:rPr lang="en-US" altLang="en-US" sz="2200" b="1" i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N</a:t>
            </a:r>
            <a:r>
              <a:rPr lang="en-US" altLang="en-US" sz="2200" dirty="0">
                <a:latin typeface="Times New Roman" panose="02020603050405020304" pitchFamily="18" charset="0"/>
                <a:sym typeface="Wingdings" panose="05000000000000000000" pitchFamily="2" charset="2"/>
              </a:rPr>
              <a:t> Increments   	</a:t>
            </a: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alt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+ 2</a:t>
            </a:r>
            <a:r>
              <a:rPr lang="en-US" altLang="en-US" sz="2200" dirty="0">
                <a:latin typeface="Times New Roman" panose="02020603050405020304" pitchFamily="18" charset="0"/>
                <a:sym typeface="Wingdings" panose="05000000000000000000" pitchFamily="2" charset="2"/>
              </a:rPr>
              <a:t>     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2200" dirty="0">
                <a:latin typeface="Times New Roman" panose="02020603050405020304" pitchFamily="18" charset="0"/>
              </a:rPr>
              <a:t>  Line </a:t>
            </a:r>
            <a:r>
              <a:rPr lang="en-US" altLang="en-US" sz="2200" dirty="0">
                <a:solidFill>
                  <a:srgbClr val="0000FF"/>
                </a:solidFill>
                <a:latin typeface="Times New Roman" panose="02020603050405020304" pitchFamily="18" charset="0"/>
              </a:rPr>
              <a:t>3 </a:t>
            </a:r>
            <a:r>
              <a:rPr lang="en-US" altLang="en-US" sz="22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 4</a:t>
            </a:r>
            <a:r>
              <a:rPr lang="en-US" altLang="en-US" sz="2200" dirty="0">
                <a:latin typeface="Times New Roman" panose="02020603050405020304" pitchFamily="18" charset="0"/>
                <a:sym typeface="Wingdings" panose="05000000000000000000" pitchFamily="2" charset="2"/>
              </a:rPr>
              <a:t> units (1 add, 2 </a:t>
            </a:r>
            <a:r>
              <a:rPr lang="en-US" altLang="en-US" sz="2200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muls</a:t>
            </a:r>
            <a:r>
              <a:rPr lang="en-US" altLang="en-US" sz="2200" dirty="0">
                <a:latin typeface="Times New Roman" panose="02020603050405020304" pitchFamily="18" charset="0"/>
                <a:sym typeface="Wingdings" panose="05000000000000000000" pitchFamily="2" charset="2"/>
              </a:rPr>
              <a:t>., 1 assign) * </a:t>
            </a:r>
            <a:r>
              <a:rPr lang="en-US" altLang="en-US" sz="2200" b="1" i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en-US" sz="2200" dirty="0">
                <a:latin typeface="Times New Roman" panose="02020603050405020304" pitchFamily="18" charset="0"/>
                <a:sym typeface="Wingdings" panose="05000000000000000000" pitchFamily="2" charset="2"/>
              </a:rPr>
              <a:t> executions  	</a:t>
            </a:r>
            <a:r>
              <a:rPr lang="en-US" altLang="en-US" sz="2400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4</a:t>
            </a:r>
            <a:r>
              <a:rPr lang="en-US" alt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en-US" sz="2200" dirty="0">
                <a:latin typeface="Times New Roman" panose="02020603050405020304" pitchFamily="18" charset="0"/>
                <a:sym typeface="Wingdings" panose="05000000000000000000" pitchFamily="2" charset="2"/>
              </a:rPr>
              <a:t>     </a:t>
            </a:r>
            <a:endParaRPr lang="en-US" altLang="en-US" sz="22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Total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					            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 	6</a:t>
            </a:r>
            <a:r>
              <a:rPr lang="en-US" altLang="en-US" b="1" i="1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</a:t>
            </a:r>
            <a:r>
              <a:rPr lang="en-US" altLang="en-US" dirty="0">
                <a:solidFill>
                  <a:srgbClr val="0000FF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+ 4</a:t>
            </a:r>
            <a:endParaRPr lang="en-US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: </a:t>
            </a:r>
            <a:r>
              <a:rPr lang="en-US" altLang="en-US" dirty="0">
                <a:solidFill>
                  <a:srgbClr val="000099"/>
                </a:solidFill>
                <a:latin typeface="Times New Roman" panose="02020603050405020304" pitchFamily="18" charset="0"/>
              </a:rPr>
              <a:t>O(N)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67488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374904" y="457200"/>
            <a:ext cx="7543800" cy="762000"/>
          </a:xfrm>
        </p:spPr>
        <p:txBody>
          <a:bodyPr/>
          <a:lstStyle/>
          <a:p>
            <a:r>
              <a:rPr lang="en-US" altLang="en-US" dirty="0"/>
              <a:t>Be careful to differentiate between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Performance: how much time/memory/disk/... is actually used when a program is run. This depends on the machine, compiler, etc. as well as the code.</a:t>
            </a:r>
          </a:p>
          <a:p>
            <a:endParaRPr lang="en-US" altLang="en-US"/>
          </a:p>
          <a:p>
            <a:r>
              <a:rPr lang="en-US" altLang="en-US"/>
              <a:t>Complexity: how do the resource requirements of a program or algorithm scale, i.e., what happens as the size of the problem being solved gets larger.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1830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Standard Analysis Techniques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Constant time statements</a:t>
            </a:r>
          </a:p>
          <a:p>
            <a:r>
              <a:rPr lang="en-US" altLang="en-US" dirty="0"/>
              <a:t>Analyzing Loops</a:t>
            </a:r>
          </a:p>
          <a:p>
            <a:r>
              <a:rPr lang="en-US" altLang="en-US" dirty="0"/>
              <a:t>Analyzing Nested Loops</a:t>
            </a:r>
          </a:p>
          <a:p>
            <a:r>
              <a:rPr lang="en-US" altLang="en-US" dirty="0"/>
              <a:t>Analyzing Conditional Statements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801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Constant time example 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Simplest case: O(1) time statements</a:t>
            </a:r>
          </a:p>
          <a:p>
            <a:r>
              <a:rPr lang="en-US" altLang="en-US" sz="2800"/>
              <a:t>Assignment statements of simple data types</a:t>
            </a:r>
          </a:p>
          <a:p>
            <a:r>
              <a:rPr lang="en-US" altLang="en-US" sz="2800"/>
              <a:t>int x = y;</a:t>
            </a:r>
          </a:p>
          <a:p>
            <a:r>
              <a:rPr lang="en-US" altLang="en-US" sz="2800"/>
              <a:t>Arithmetic operations:</a:t>
            </a:r>
          </a:p>
          <a:p>
            <a:r>
              <a:rPr lang="pl-PL" altLang="en-US" sz="2800"/>
              <a:t>x = 5 * y + 4 - z;</a:t>
            </a:r>
          </a:p>
          <a:p>
            <a:r>
              <a:rPr lang="en-US" altLang="en-US" sz="2800"/>
              <a:t>Array referencing:</a:t>
            </a:r>
          </a:p>
          <a:p>
            <a:r>
              <a:rPr lang="en-US" altLang="en-US" sz="2800"/>
              <a:t>A[j] = 5;</a:t>
            </a:r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0480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Analyze Loop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Any loop has two parts:</a:t>
            </a:r>
          </a:p>
          <a:p>
            <a:r>
              <a:rPr lang="en-US" altLang="en-US" dirty="0"/>
              <a:t>– How many iterations are performed?</a:t>
            </a:r>
          </a:p>
          <a:p>
            <a:r>
              <a:rPr lang="en-US" altLang="en-US" dirty="0"/>
              <a:t>– How many steps per iteration?</a:t>
            </a:r>
          </a:p>
          <a:p>
            <a:pPr lvl="1"/>
            <a:r>
              <a:rPr lang="en-US" altLang="en-US" b="1" dirty="0" err="1"/>
              <a:t>int</a:t>
            </a:r>
            <a:r>
              <a:rPr lang="en-US" altLang="en-US" b="1" dirty="0"/>
              <a:t> sum = 0,j;</a:t>
            </a:r>
          </a:p>
          <a:p>
            <a:pPr lvl="1"/>
            <a:r>
              <a:rPr lang="en-US" altLang="en-US" b="1" dirty="0"/>
              <a:t>for (j=0; j &lt; N; </a:t>
            </a:r>
            <a:r>
              <a:rPr lang="en-US" altLang="en-US" b="1" dirty="0" err="1"/>
              <a:t>j++</a:t>
            </a:r>
            <a:r>
              <a:rPr lang="en-US" altLang="en-US" b="1" dirty="0"/>
              <a:t>)</a:t>
            </a:r>
          </a:p>
          <a:p>
            <a:pPr lvl="1"/>
            <a:r>
              <a:rPr lang="en-US" altLang="en-US" b="1" dirty="0"/>
              <a:t>sum = sum +j;</a:t>
            </a:r>
          </a:p>
          <a:p>
            <a:r>
              <a:rPr lang="pt-BR" altLang="en-US" dirty="0"/>
              <a:t>– Loop executes N times (0..N-1)</a:t>
            </a:r>
          </a:p>
          <a:p>
            <a:r>
              <a:rPr lang="en-US" altLang="en-US" dirty="0"/>
              <a:t>– O(1) steps per iteration</a:t>
            </a:r>
          </a:p>
          <a:p>
            <a:r>
              <a:rPr lang="pt-BR" altLang="en-US" dirty="0"/>
              <a:t>• Total time is N * O(1) = O(N*1) = O(N)</a:t>
            </a:r>
            <a:endParaRPr lang="en-US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1541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Nested and consecutive loops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For a sequence of statements, compute their complexity functions individually and add them up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pt-BR" altLang="en-US"/>
              <a:t>Total cost is O(N2) + O(N) +O(1) = O(N2) </a:t>
            </a:r>
          </a:p>
          <a:p>
            <a:r>
              <a:rPr lang="pt-BR" altLang="en-US"/>
              <a:t>Or N square </a:t>
            </a:r>
            <a:endParaRPr lang="en-US" altLang="en-US"/>
          </a:p>
        </p:txBody>
      </p:sp>
      <p:pic>
        <p:nvPicPr>
          <p:cNvPr id="23557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286000"/>
            <a:ext cx="4948238" cy="240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4257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Nested loop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286000"/>
            <a:ext cx="7586663" cy="21240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 </a:t>
            </a:r>
            <a:br>
              <a:rPr lang="en-US" altLang="en-US"/>
            </a:br>
            <a:endParaRPr lang="en-US" altLang="en-US" sz="280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1295400"/>
            <a:ext cx="7696200" cy="38625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en-US" sz="2000" dirty="0"/>
              <a:t> for(</a:t>
            </a:r>
            <a:r>
              <a:rPr lang="en-US" altLang="en-US" sz="2000" dirty="0" err="1"/>
              <a:t>i</a:t>
            </a:r>
            <a:r>
              <a:rPr lang="en-US" altLang="en-US" sz="2000" dirty="0"/>
              <a:t>=0;i&lt;</a:t>
            </a:r>
            <a:r>
              <a:rPr lang="en-US" altLang="en-US" sz="2000" dirty="0" err="1"/>
              <a:t>n;i</a:t>
            </a:r>
            <a:r>
              <a:rPr lang="en-US" altLang="en-US" sz="2000" dirty="0"/>
              <a:t>++)                 for(</a:t>
            </a:r>
            <a:r>
              <a:rPr lang="en-US" altLang="en-US" sz="2000" dirty="0" err="1"/>
              <a:t>i</a:t>
            </a:r>
            <a:r>
              <a:rPr lang="en-US" altLang="en-US" sz="2000" dirty="0"/>
              <a:t>=0;i&lt;</a:t>
            </a:r>
            <a:r>
              <a:rPr lang="en-US" altLang="en-US" sz="2000" dirty="0" err="1"/>
              <a:t>n;i</a:t>
            </a:r>
            <a:r>
              <a:rPr lang="en-US" altLang="en-US" sz="2000" dirty="0"/>
              <a:t>++)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en-US" sz="2000" dirty="0"/>
              <a:t> {                                 	{ } </a:t>
            </a:r>
            <a:br>
              <a:rPr lang="en-US" altLang="en-US" sz="2000" dirty="0"/>
            </a:br>
            <a:r>
              <a:rPr lang="en-US" altLang="en-US" sz="2000" dirty="0"/>
              <a:t> for(j=0;j&lt;</a:t>
            </a:r>
            <a:r>
              <a:rPr lang="en-US" altLang="en-US" sz="2000" dirty="0" err="1"/>
              <a:t>n;j</a:t>
            </a:r>
            <a:r>
              <a:rPr lang="en-US" altLang="en-US" sz="2000" dirty="0"/>
              <a:t>++)             for(j=0;j&lt;</a:t>
            </a:r>
            <a:r>
              <a:rPr lang="en-US" altLang="en-US" sz="2000" dirty="0" err="1"/>
              <a:t>n;j</a:t>
            </a:r>
            <a:r>
              <a:rPr lang="en-US" altLang="en-US" sz="2000" dirty="0"/>
              <a:t>++) 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en-US" sz="2000" dirty="0"/>
              <a:t>      {                          		 {   }</a:t>
            </a:r>
            <a:br>
              <a:rPr lang="en-US" altLang="en-US" sz="2000" dirty="0"/>
            </a:br>
            <a:r>
              <a:rPr lang="en-US" altLang="en-US" sz="2000" dirty="0"/>
              <a:t>    for(k=0;k&lt;</a:t>
            </a:r>
            <a:r>
              <a:rPr lang="en-US" altLang="en-US" sz="2000" dirty="0" err="1"/>
              <a:t>n;k</a:t>
            </a:r>
            <a:r>
              <a:rPr lang="en-US" altLang="en-US" sz="2000" dirty="0"/>
              <a:t>++)         for(k=0;k&lt;</a:t>
            </a:r>
            <a:r>
              <a:rPr lang="en-US" altLang="en-US" sz="2000" dirty="0" err="1"/>
              <a:t>n;k</a:t>
            </a:r>
            <a:r>
              <a:rPr lang="en-US" altLang="en-US" sz="2000" dirty="0"/>
              <a:t>++) </a:t>
            </a:r>
            <a:br>
              <a:rPr lang="en-US" altLang="en-US" sz="2000" dirty="0"/>
            </a:br>
            <a:r>
              <a:rPr lang="en-US" altLang="en-US" sz="2000" dirty="0"/>
              <a:t>   	{    }                                      {    }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en-US" sz="2000" dirty="0"/>
              <a:t>	    }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en-US" sz="2000" dirty="0"/>
              <a:t>	}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defRPr/>
            </a:pPr>
            <a:br>
              <a:rPr lang="en-US" altLang="en-US" sz="2000" dirty="0"/>
            </a:br>
            <a:r>
              <a:rPr lang="en-US" altLang="en-US" sz="2000" dirty="0"/>
              <a:t>      </a:t>
            </a:r>
            <a:r>
              <a:rPr lang="en-US" altLang="en-US" sz="2000" dirty="0">
                <a:solidFill>
                  <a:srgbClr val="FF0000"/>
                </a:solidFill>
              </a:rPr>
              <a:t>O(n</a:t>
            </a:r>
            <a:r>
              <a:rPr lang="en-US" altLang="en-US" sz="2000" baseline="30000" dirty="0">
                <a:solidFill>
                  <a:srgbClr val="FF0000"/>
                </a:solidFill>
              </a:rPr>
              <a:t>3</a:t>
            </a:r>
            <a:r>
              <a:rPr lang="en-US" altLang="en-US" sz="2000" dirty="0">
                <a:solidFill>
                  <a:srgbClr val="FF0000"/>
                </a:solidFill>
              </a:rPr>
              <a:t>)</a:t>
            </a:r>
            <a:r>
              <a:rPr lang="en-US" altLang="en-US" sz="2000" dirty="0"/>
              <a:t>                               </a:t>
            </a:r>
            <a:r>
              <a:rPr lang="en-US" altLang="en-US" sz="2000" dirty="0">
                <a:solidFill>
                  <a:srgbClr val="FF0000"/>
                </a:solidFill>
              </a:rPr>
              <a:t>O(n)</a:t>
            </a:r>
          </a:p>
          <a:p>
            <a:pPr eaLnBrk="1" hangingPunct="1">
              <a:defRPr/>
            </a:pP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43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796792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if (condition)</a:t>
            </a:r>
          </a:p>
          <a:p>
            <a:pPr lvl="1"/>
            <a:r>
              <a:rPr lang="en-US" altLang="en-US"/>
              <a:t>statement1;</a:t>
            </a:r>
          </a:p>
          <a:p>
            <a:r>
              <a:rPr lang="en-US" altLang="en-US"/>
              <a:t>else</a:t>
            </a:r>
          </a:p>
          <a:p>
            <a:pPr lvl="1"/>
            <a:r>
              <a:rPr lang="en-US" altLang="en-US"/>
              <a:t>statement2;</a:t>
            </a:r>
          </a:p>
          <a:p>
            <a:r>
              <a:rPr lang="en-US" altLang="en-US"/>
              <a:t>where statement1 runs in O(N) time and statement2 runs in O(N2) time?</a:t>
            </a:r>
          </a:p>
          <a:p>
            <a:endParaRPr lang="en-US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44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452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it is important  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Suppose a program has run time O(n!) and the run time for</a:t>
            </a:r>
          </a:p>
          <a:p>
            <a:pPr lvl="1"/>
            <a:r>
              <a:rPr lang="en-US" altLang="en-US"/>
              <a:t>n = 10 is 1 second</a:t>
            </a:r>
          </a:p>
          <a:p>
            <a:pPr lvl="1"/>
            <a:r>
              <a:rPr lang="en-US" altLang="en-US"/>
              <a:t>For n = 12, the run time is 2 minutes</a:t>
            </a:r>
          </a:p>
          <a:p>
            <a:pPr lvl="1"/>
            <a:r>
              <a:rPr lang="en-US" altLang="en-US"/>
              <a:t>For n = 14, the run time is 6 hours</a:t>
            </a:r>
          </a:p>
          <a:p>
            <a:pPr lvl="1"/>
            <a:r>
              <a:rPr lang="en-US" altLang="en-US"/>
              <a:t>For n = 16, the run time is 2 months</a:t>
            </a:r>
          </a:p>
          <a:p>
            <a:pPr lvl="1"/>
            <a:r>
              <a:rPr lang="en-US" altLang="en-US"/>
              <a:t>For n = 18, the run time is 50 years</a:t>
            </a:r>
          </a:p>
          <a:p>
            <a:pPr lvl="1"/>
            <a:r>
              <a:rPr lang="en-US" altLang="en-US"/>
              <a:t>For n = 20, the run time is 200 centuries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45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3847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/>
              <a:t>Task</a:t>
            </a:r>
            <a:r>
              <a:rPr lang="en-US" altLang="en-US"/>
              <a:t> 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for (i=0; i&lt;n; i++)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{for (j=0; j&lt;n;j++)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{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Sequence of statements….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}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/>
              <a:t>}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1106-B3C8-457C-BE66-FB62641EC59E}" type="slidenum">
              <a:rPr lang="zh-TW" altLang="en-US" smtClean="0"/>
              <a:pPr/>
              <a:t>46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5343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Statements with Function call</a:t>
            </a:r>
          </a:p>
        </p:txBody>
      </p:sp>
      <p:sp>
        <p:nvSpPr>
          <p:cNvPr id="8294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086600" cy="4572000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>
              <a:buFont typeface="Wingdings 2" panose="05020102010507070707" pitchFamily="18" charset="2"/>
              <a:buNone/>
            </a:pPr>
            <a:endParaRPr lang="en-U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66800" y="2286000"/>
            <a:ext cx="6553200" cy="120015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en-US" dirty="0"/>
              <a:t> for(</a:t>
            </a:r>
            <a:r>
              <a:rPr lang="en-US" altLang="en-US" dirty="0" err="1"/>
              <a:t>i</a:t>
            </a:r>
            <a:r>
              <a:rPr lang="en-US" altLang="en-US" dirty="0"/>
              <a:t>=0;i&lt;</a:t>
            </a:r>
            <a:r>
              <a:rPr lang="en-US" altLang="en-US" dirty="0" err="1"/>
              <a:t>n;i</a:t>
            </a:r>
            <a:r>
              <a:rPr lang="en-US" altLang="en-US" dirty="0"/>
              <a:t>++)</a:t>
            </a:r>
            <a:br>
              <a:rPr lang="en-US" altLang="en-US" dirty="0"/>
            </a:br>
            <a:r>
              <a:rPr lang="en-US" altLang="en-US" dirty="0"/>
              <a:t>   {  g(n);  }</a:t>
            </a:r>
            <a:br>
              <a:rPr lang="en-US" altLang="en-US" dirty="0"/>
            </a:br>
            <a:r>
              <a:rPr lang="en-US" altLang="en-US" dirty="0"/>
              <a:t>                                   </a:t>
            </a:r>
            <a:endParaRPr lang="en-US" altLang="en-US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1106-B3C8-457C-BE66-FB62641EC59E}" type="slidenum">
              <a:rPr lang="zh-TW" altLang="en-US" smtClean="0"/>
              <a:pPr/>
              <a:t>47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41579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altLang="en-US" b="1"/>
              <a:t>Function of Growth rate</a:t>
            </a:r>
          </a:p>
        </p:txBody>
      </p:sp>
      <p:pic>
        <p:nvPicPr>
          <p:cNvPr id="83972" name="Picture 3" descr="table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447800"/>
            <a:ext cx="6172200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CD79-CA13-421C-A7C5-683957AB32AC}" type="slidenum">
              <a:rPr lang="zh-TW" altLang="en-US" smtClean="0"/>
              <a:pPr/>
              <a:t>48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9427746"/>
      </p:ext>
    </p:extLst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381000" y="457200"/>
            <a:ext cx="75438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Comparing the asymptotic running time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18FD48-A42B-4179-A2DF-88244BD0D4E8}" type="slidenum">
              <a:rPr lang="en-US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400">
              <a:latin typeface="Arial" panose="020B0604020202020204" pitchFamily="34" charset="0"/>
            </a:endParaRPr>
          </a:p>
        </p:txBody>
      </p:sp>
      <p:sp>
        <p:nvSpPr>
          <p:cNvPr id="14340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An algorithm that runs in </a:t>
            </a:r>
            <a:r>
              <a:rPr lang="en-US" altLang="en-US" b="1" i="1" dirty="0"/>
              <a:t>O</a:t>
            </a:r>
            <a:r>
              <a:rPr lang="en-US" altLang="en-US" dirty="0"/>
              <a:t>(n) time is better than the one that runs in </a:t>
            </a:r>
            <a:r>
              <a:rPr lang="en-US" altLang="en-US" b="1" i="1" dirty="0"/>
              <a:t>O</a:t>
            </a:r>
            <a:r>
              <a:rPr lang="en-US" altLang="en-US" dirty="0"/>
              <a:t>(n</a:t>
            </a:r>
            <a:r>
              <a:rPr lang="en-US" altLang="en-US" baseline="30000" dirty="0"/>
              <a:t>2</a:t>
            </a:r>
            <a:r>
              <a:rPr lang="en-US" altLang="en-US" dirty="0"/>
              <a:t>) time</a:t>
            </a:r>
          </a:p>
          <a:p>
            <a:pPr eaLnBrk="1" hangingPunct="1"/>
            <a:r>
              <a:rPr lang="en-US" altLang="en-US" dirty="0"/>
              <a:t>Similarly, </a:t>
            </a:r>
            <a:r>
              <a:rPr lang="en-US" altLang="en-US" b="1" i="1" dirty="0"/>
              <a:t>O</a:t>
            </a:r>
            <a:r>
              <a:rPr lang="en-US" altLang="en-US" dirty="0"/>
              <a:t>(log n) is better than </a:t>
            </a:r>
            <a:r>
              <a:rPr lang="en-US" altLang="en-US" b="1" i="1" dirty="0"/>
              <a:t>O</a:t>
            </a:r>
            <a:r>
              <a:rPr lang="en-US" altLang="en-US" dirty="0"/>
              <a:t>(n)</a:t>
            </a:r>
          </a:p>
          <a:p>
            <a:pPr eaLnBrk="1" hangingPunct="1"/>
            <a:r>
              <a:rPr lang="en-US" altLang="en-US" dirty="0"/>
              <a:t>Hierarchy of functions:</a:t>
            </a:r>
          </a:p>
          <a:p>
            <a:pPr eaLnBrk="1" hangingPunct="1"/>
            <a:r>
              <a:rPr lang="pt-BR" altLang="en-US" dirty="0"/>
              <a:t>log n &lt;&lt; n &lt;&lt; n</a:t>
            </a:r>
            <a:r>
              <a:rPr lang="pt-BR" altLang="en-US" baseline="30000" dirty="0"/>
              <a:t>2</a:t>
            </a:r>
            <a:r>
              <a:rPr lang="pt-BR" altLang="en-US" dirty="0"/>
              <a:t> &lt;&lt; n</a:t>
            </a:r>
            <a:r>
              <a:rPr lang="pt-BR" altLang="en-US" baseline="30000" dirty="0"/>
              <a:t>3</a:t>
            </a:r>
            <a:r>
              <a:rPr lang="pt-BR" altLang="en-US" dirty="0"/>
              <a:t> &lt;&lt; 2</a:t>
            </a:r>
            <a:r>
              <a:rPr lang="pt-BR" altLang="en-US" baseline="30000" dirty="0"/>
              <a:t>n</a:t>
            </a:r>
            <a:endParaRPr lang="en-US" altLang="en-US" baseline="30000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928688" y="1500188"/>
            <a:ext cx="7772400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b="1" dirty="0"/>
              <a:t>A loop that runs a constant number of times is also considered as O(1).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Here c is a constant for </a:t>
            </a:r>
          </a:p>
          <a:p>
            <a:r>
              <a:rPr lang="en-US" altLang="en-US" dirty="0"/>
              <a:t>For example the following loop is O(1).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(</a:t>
            </a:r>
            <a:r>
              <a:rPr lang="en-US" altLang="en-US" dirty="0" err="1"/>
              <a:t>int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= 1; </a:t>
            </a:r>
            <a:r>
              <a:rPr lang="en-US" altLang="en-US" dirty="0" err="1"/>
              <a:t>i</a:t>
            </a:r>
            <a:r>
              <a:rPr lang="en-US" altLang="en-US" dirty="0"/>
              <a:t> &lt;= c; </a:t>
            </a:r>
            <a:r>
              <a:rPr lang="en-US" altLang="en-US" dirty="0" err="1"/>
              <a:t>i</a:t>
            </a:r>
            <a:r>
              <a:rPr lang="en-US" altLang="en-US" dirty="0"/>
              <a:t>++)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{ // some O(1) expressions }</a:t>
            </a: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222984-BB50-4AF6-93C2-169BBF575086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b="1" dirty="0"/>
              <a:t>O(n):</a:t>
            </a:r>
            <a:r>
              <a:rPr lang="en-US" altLang="en-US" dirty="0"/>
              <a:t> Time Complexity of a loop is considered as O(n) if the loop variables is incremented / decremented by a constant amount. For example following functions have O(n) time complexity.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// Here c is a positive integer constant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 for (</a:t>
            </a:r>
            <a:r>
              <a:rPr lang="en-US" altLang="en-US" dirty="0" err="1"/>
              <a:t>int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= 1; </a:t>
            </a:r>
            <a:r>
              <a:rPr lang="en-US" altLang="en-US" dirty="0" err="1"/>
              <a:t>i</a:t>
            </a:r>
            <a:r>
              <a:rPr lang="en-US" altLang="en-US" dirty="0"/>
              <a:t> &lt;= n; </a:t>
            </a:r>
            <a:r>
              <a:rPr lang="en-US" altLang="en-US" dirty="0" err="1"/>
              <a:t>i</a:t>
            </a:r>
            <a:r>
              <a:rPr lang="en-US" altLang="en-US" dirty="0"/>
              <a:t> += c)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 { // some O(1) expressions }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 for (</a:t>
            </a:r>
            <a:r>
              <a:rPr lang="en-US" altLang="en-US" dirty="0" err="1"/>
              <a:t>int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= n; </a:t>
            </a:r>
            <a:r>
              <a:rPr lang="en-US" altLang="en-US" dirty="0" err="1"/>
              <a:t>i</a:t>
            </a:r>
            <a:r>
              <a:rPr lang="en-US" altLang="en-US" dirty="0"/>
              <a:t> &gt; 0; </a:t>
            </a:r>
            <a:r>
              <a:rPr lang="en-US" altLang="en-US" dirty="0" err="1"/>
              <a:t>i</a:t>
            </a:r>
            <a:r>
              <a:rPr lang="en-US" altLang="en-US" dirty="0"/>
              <a:t> -= c)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 { // some O(1) expressions }</a:t>
            </a:r>
          </a:p>
        </p:txBody>
      </p:sp>
      <p:sp>
        <p:nvSpPr>
          <p:cNvPr id="16388" name="Slide Number Placeholder 4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CB5954-9226-4910-B601-8199DB9F7022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b="1" dirty="0"/>
              <a:t>O(</a:t>
            </a:r>
            <a:r>
              <a:rPr lang="en-US" altLang="en-US" b="1" dirty="0" err="1"/>
              <a:t>n</a:t>
            </a:r>
            <a:r>
              <a:rPr lang="en-US" altLang="en-US" b="1" baseline="30000" dirty="0" err="1"/>
              <a:t>c</a:t>
            </a:r>
            <a:r>
              <a:rPr lang="en-US" altLang="en-US" b="1" dirty="0"/>
              <a:t>)</a:t>
            </a:r>
            <a:r>
              <a:rPr lang="en-US" altLang="en-US" dirty="0"/>
              <a:t>: Time complexity of </a:t>
            </a:r>
            <a:r>
              <a:rPr lang="en-US" altLang="en-US" dirty="0">
                <a:solidFill>
                  <a:srgbClr val="00B0F0"/>
                </a:solidFill>
              </a:rPr>
              <a:t>nested loops </a:t>
            </a:r>
            <a:r>
              <a:rPr lang="en-US" altLang="en-US" dirty="0"/>
              <a:t>is equal to the number of times the innermost statement is executed. For example the following sample loops have O(n</a:t>
            </a:r>
            <a:r>
              <a:rPr lang="en-US" altLang="en-US" baseline="30000" dirty="0"/>
              <a:t>2</a:t>
            </a:r>
            <a:r>
              <a:rPr lang="en-US" altLang="en-US" dirty="0"/>
              <a:t>) time complexity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for (</a:t>
            </a:r>
            <a:r>
              <a:rPr lang="en-US" altLang="en-US" dirty="0" err="1"/>
              <a:t>int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= 1; </a:t>
            </a:r>
            <a:r>
              <a:rPr lang="en-US" altLang="en-US" dirty="0" err="1"/>
              <a:t>i</a:t>
            </a:r>
            <a:r>
              <a:rPr lang="en-US" altLang="en-US" dirty="0"/>
              <a:t> &lt;=n; </a:t>
            </a:r>
            <a:r>
              <a:rPr lang="en-US" altLang="en-US" dirty="0" err="1"/>
              <a:t>i</a:t>
            </a:r>
            <a:r>
              <a:rPr lang="en-US" altLang="en-US" dirty="0"/>
              <a:t> += a)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{  for (</a:t>
            </a:r>
            <a:r>
              <a:rPr lang="en-US" altLang="en-US" dirty="0" err="1"/>
              <a:t>int</a:t>
            </a:r>
            <a:r>
              <a:rPr lang="en-US" altLang="en-US" dirty="0"/>
              <a:t> j = 1; j &lt;=n; j += a) 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    { // some O(1) expressions } }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E4F6C2-AF5A-433A-B96D-3576D906AA00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b="1" dirty="0"/>
              <a:t>O(</a:t>
            </a:r>
            <a:r>
              <a:rPr lang="en-US" altLang="en-US" b="1" dirty="0" err="1"/>
              <a:t>Logn</a:t>
            </a:r>
            <a:r>
              <a:rPr lang="en-US" altLang="en-US" b="1" dirty="0"/>
              <a:t>)</a:t>
            </a:r>
            <a:r>
              <a:rPr lang="en-US" altLang="en-US" dirty="0"/>
              <a:t> Time Complexity of a loop is considered as O(</a:t>
            </a:r>
            <a:r>
              <a:rPr lang="en-US" altLang="en-US" dirty="0" err="1"/>
              <a:t>Logn</a:t>
            </a:r>
            <a:r>
              <a:rPr lang="en-US" altLang="en-US" dirty="0"/>
              <a:t>) if the loop variables is divided / multiplied by a constant amount.</a:t>
            </a:r>
          </a:p>
          <a:p>
            <a:endParaRPr lang="en-US" altLang="en-US" dirty="0"/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for (</a:t>
            </a:r>
            <a:r>
              <a:rPr lang="en-US" altLang="en-US" dirty="0" err="1"/>
              <a:t>int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= 1; </a:t>
            </a:r>
            <a:r>
              <a:rPr lang="en-US" altLang="en-US" dirty="0" err="1"/>
              <a:t>i</a:t>
            </a:r>
            <a:r>
              <a:rPr lang="en-US" altLang="en-US" dirty="0"/>
              <a:t> &lt;=n; </a:t>
            </a:r>
            <a:r>
              <a:rPr lang="en-US" altLang="en-US" dirty="0" err="1"/>
              <a:t>i</a:t>
            </a:r>
            <a:r>
              <a:rPr lang="en-US" altLang="en-US" dirty="0"/>
              <a:t> *= c)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{ // some O(1) expressions }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for (</a:t>
            </a:r>
            <a:r>
              <a:rPr lang="en-US" altLang="en-US" dirty="0" err="1"/>
              <a:t>int</a:t>
            </a:r>
            <a:r>
              <a:rPr lang="en-US" altLang="en-US" dirty="0"/>
              <a:t> </a:t>
            </a:r>
            <a:r>
              <a:rPr lang="en-US" altLang="en-US" dirty="0" err="1"/>
              <a:t>i</a:t>
            </a:r>
            <a:r>
              <a:rPr lang="en-US" altLang="en-US" dirty="0"/>
              <a:t> = n; </a:t>
            </a:r>
            <a:r>
              <a:rPr lang="en-US" altLang="en-US" dirty="0" err="1"/>
              <a:t>i</a:t>
            </a:r>
            <a:r>
              <a:rPr lang="en-US" altLang="en-US" dirty="0"/>
              <a:t> &gt; 0; </a:t>
            </a:r>
            <a:r>
              <a:rPr lang="en-US" altLang="en-US" dirty="0" err="1"/>
              <a:t>i</a:t>
            </a:r>
            <a:r>
              <a:rPr lang="en-US" altLang="en-US" dirty="0"/>
              <a:t> /= c) 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dirty="0"/>
              <a:t>{ // some O(1) expressions }</a:t>
            </a:r>
          </a:p>
        </p:txBody>
      </p:sp>
      <p:sp>
        <p:nvSpPr>
          <p:cNvPr id="18436" name="Slide Number Placeholder 4"/>
          <p:cNvSpPr>
            <a:spLocks noGrp="1"/>
          </p:cNvSpPr>
          <p:nvPr>
            <p:ph type="sldNum" sz="quarter" idx="12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CB2AFB-B69B-44C8-87F6-842DD400811C}" type="slidenum">
              <a:rPr lang="en-US" altLang="en-US" sz="1400">
                <a:solidFill>
                  <a:srgbClr val="FFFFFF"/>
                </a:solidFill>
                <a:latin typeface="Franklin Gothic Book" panose="020B0503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400">
              <a:solidFill>
                <a:srgbClr val="FFFFFF"/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Task</a:t>
            </a:r>
          </a:p>
        </p:txBody>
      </p:sp>
      <p:sp>
        <p:nvSpPr>
          <p:cNvPr id="8704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/>
              <a:t>Write an algorithm to sort the data in array.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519D7-72CF-4E2F-9117-DDCEB192D565}" type="slidenum">
              <a:rPr lang="zh-TW" altLang="en-US" smtClean="0"/>
              <a:pPr/>
              <a:t>54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0024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3886</Words>
  <Application>Microsoft Macintosh PowerPoint</Application>
  <PresentationFormat>On-screen Show (4:3)</PresentationFormat>
  <Paragraphs>456</Paragraphs>
  <Slides>54</Slides>
  <Notes>17</Notes>
  <HiddenSlides>17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6" baseType="lpstr">
      <vt:lpstr>Arial</vt:lpstr>
      <vt:lpstr>Arial Narrow</vt:lpstr>
      <vt:lpstr>Courier New</vt:lpstr>
      <vt:lpstr>Franklin Gothic Book</vt:lpstr>
      <vt:lpstr>Symbol</vt:lpstr>
      <vt:lpstr>Tahoma</vt:lpstr>
      <vt:lpstr>Times New Roman</vt:lpstr>
      <vt:lpstr>Wingdings</vt:lpstr>
      <vt:lpstr>Wingdings 2</vt:lpstr>
      <vt:lpstr>Blends</vt:lpstr>
      <vt:lpstr>Clip</vt:lpstr>
      <vt:lpstr>Chart</vt:lpstr>
      <vt:lpstr>Course Name: CS302-Design an analysis of Algorithm  Credit Hours: 3 </vt:lpstr>
      <vt:lpstr>Algorithm analysis</vt:lpstr>
      <vt:lpstr>Analysis of an Algorithm</vt:lpstr>
      <vt:lpstr>   Strengthening the Informal Definition </vt:lpstr>
      <vt:lpstr>What is the specification of algorithm? </vt:lpstr>
      <vt:lpstr>Running Time   </vt:lpstr>
      <vt:lpstr>Experimental Studies</vt:lpstr>
      <vt:lpstr>Limitations of Experiments</vt:lpstr>
      <vt:lpstr>Theoretical Analysis</vt:lpstr>
      <vt:lpstr>Asymptotic Notations  </vt:lpstr>
      <vt:lpstr>-notation</vt:lpstr>
      <vt:lpstr>PowerPoint Presentation</vt:lpstr>
      <vt:lpstr>O-notation</vt:lpstr>
      <vt:lpstr> -notation</vt:lpstr>
      <vt:lpstr>Relations Between Q, O, W</vt:lpstr>
      <vt:lpstr>Relations Between Q, W, O</vt:lpstr>
      <vt:lpstr>PowerPoint Presentation</vt:lpstr>
      <vt:lpstr>Asymptotic Notation</vt:lpstr>
      <vt:lpstr>PowerPoint Presentation</vt:lpstr>
      <vt:lpstr>PowerPoint Presentation</vt:lpstr>
      <vt:lpstr>PowerPoint Presentation</vt:lpstr>
      <vt:lpstr>PowerPoint Presentation</vt:lpstr>
      <vt:lpstr>Examples of algorithms </vt:lpstr>
      <vt:lpstr>Best worst and average time complexity </vt:lpstr>
      <vt:lpstr>What is the relationship between Big O, Θ, Ω and best, worst, and average case of an algorithm?</vt:lpstr>
      <vt:lpstr>Best worst average vs Notations</vt:lpstr>
      <vt:lpstr>Estimating Running Time</vt:lpstr>
      <vt:lpstr>Simple Example (1)</vt:lpstr>
      <vt:lpstr>Example of Basic Operations: </vt:lpstr>
      <vt:lpstr>Simple Complexity Analysis: Loops</vt:lpstr>
      <vt:lpstr>Simple Example (2)</vt:lpstr>
      <vt:lpstr>Example explanation    </vt:lpstr>
      <vt:lpstr>What Dominates in Previous Example?</vt:lpstr>
      <vt:lpstr>Rate of Growth</vt:lpstr>
      <vt:lpstr>Simple Complexity Analysis: Loops (with &lt;)</vt:lpstr>
      <vt:lpstr>Simple Complexity Analysis: Loop Example</vt:lpstr>
      <vt:lpstr>Running Time Calculations</vt:lpstr>
      <vt:lpstr>Be careful to differentiate between</vt:lpstr>
      <vt:lpstr>Standard Analysis Techniques</vt:lpstr>
      <vt:lpstr>Constant time example </vt:lpstr>
      <vt:lpstr>Analyze Loop</vt:lpstr>
      <vt:lpstr>Nested and consecutive loops</vt:lpstr>
      <vt:lpstr>Nested loop</vt:lpstr>
      <vt:lpstr>PowerPoint Presentation</vt:lpstr>
      <vt:lpstr>Why it is important  </vt:lpstr>
      <vt:lpstr>Task </vt:lpstr>
      <vt:lpstr>Statements with Function call</vt:lpstr>
      <vt:lpstr>Function of Growth rate</vt:lpstr>
      <vt:lpstr>Comparing the asymptotic running time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2019-09-03T09:25:06Z</dcterms:created>
  <dcterms:modified xsi:type="dcterms:W3CDTF">2023-01-31T10:12:09Z</dcterms:modified>
</cp:coreProperties>
</file>